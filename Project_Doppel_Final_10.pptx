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v</c:v>
                </c:pt>
              </c:strCache>
            </c:strRef>
          </c:tx>
          <c:invertIfNegative val="1"/>
          <c:dPt>
            <c:idx val="0"/>
            <c:invertIfNegative val="1"/>
            <c:bubble3D val="0"/>
            <c:spPr>
              <a:solidFill>
                <a:srgbClr val="8A8A8A"/>
              </a:solidFill>
              <a:ln>
                <a:noFill/>
              </a:ln>
            </c:spPr>
            <c:extLst>
              <c:ext xmlns:c16="http://schemas.microsoft.com/office/drawing/2014/chart" uri="{C3380CC4-5D6E-409C-BE32-E72D297353CC}">
                <c16:uniqueId val="{00000001-B2E9-460B-80F5-F636E313AAE7}"/>
              </c:ext>
            </c:extLst>
          </c:dPt>
          <c:dPt>
            <c:idx val="1"/>
            <c:invertIfNegative val="1"/>
            <c:bubble3D val="0"/>
            <c:spPr>
              <a:solidFill>
                <a:srgbClr val="1E2761"/>
              </a:solidFill>
              <a:ln>
                <a:noFill/>
              </a:ln>
            </c:spPr>
            <c:extLst>
              <c:ext xmlns:c16="http://schemas.microsoft.com/office/drawing/2014/chart" uri="{C3380CC4-5D6E-409C-BE32-E72D297353CC}">
                <c16:uniqueId val="{00000003-B2E9-460B-80F5-F636E313AAE7}"/>
              </c:ext>
            </c:extLst>
          </c:dPt>
          <c:dPt>
            <c:idx val="2"/>
            <c:invertIfNegative val="1"/>
            <c:bubble3D val="0"/>
            <c:spPr>
              <a:solidFill>
                <a:srgbClr val="1E2761"/>
              </a:solidFill>
              <a:ln>
                <a:noFill/>
              </a:ln>
            </c:spPr>
            <c:extLst>
              <c:ext xmlns:c16="http://schemas.microsoft.com/office/drawing/2014/chart" uri="{C3380CC4-5D6E-409C-BE32-E72D297353CC}">
                <c16:uniqueId val="{00000005-B2E9-460B-80F5-F636E313AAE7}"/>
              </c:ext>
            </c:extLst>
          </c:dPt>
          <c:dPt>
            <c:idx val="3"/>
            <c:invertIfNegative val="1"/>
            <c:bubble3D val="0"/>
            <c:spPr>
              <a:solidFill>
                <a:srgbClr val="1E2761"/>
              </a:solidFill>
              <a:ln>
                <a:noFill/>
              </a:ln>
            </c:spPr>
            <c:extLst>
              <c:ext xmlns:c16="http://schemas.microsoft.com/office/drawing/2014/chart" uri="{C3380CC4-5D6E-409C-BE32-E72D297353CC}">
                <c16:uniqueId val="{00000007-B2E9-460B-80F5-F636E313AAE7}"/>
              </c:ext>
            </c:extLst>
          </c:dPt>
          <c:dPt>
            <c:idx val="4"/>
            <c:invertIfNegative val="1"/>
            <c:bubble3D val="0"/>
            <c:spPr>
              <a:solidFill>
                <a:srgbClr val="7C93C3"/>
              </a:solidFill>
              <a:ln>
                <a:noFill/>
              </a:ln>
            </c:spPr>
            <c:extLst>
              <c:ext xmlns:c16="http://schemas.microsoft.com/office/drawing/2014/chart" uri="{C3380CC4-5D6E-409C-BE32-E72D297353CC}">
                <c16:uniqueId val="{00000009-B2E9-460B-80F5-F636E313AAE7}"/>
              </c:ext>
            </c:extLst>
          </c:dPt>
          <c:dPt>
            <c:idx val="5"/>
            <c:invertIfNegative val="1"/>
            <c:bubble3D val="0"/>
            <c:spPr>
              <a:solidFill>
                <a:srgbClr val="7C93C3"/>
              </a:solidFill>
              <a:ln>
                <a:noFill/>
              </a:ln>
            </c:spPr>
            <c:extLst>
              <c:ext xmlns:c16="http://schemas.microsoft.com/office/drawing/2014/chart" uri="{C3380CC4-5D6E-409C-BE32-E72D297353CC}">
                <c16:uniqueId val="{0000000B-B2E9-460B-80F5-F636E313AAE7}"/>
              </c:ext>
            </c:extLst>
          </c:dPt>
          <c:dPt>
            <c:idx val="6"/>
            <c:invertIfNegative val="1"/>
            <c:bubble3D val="0"/>
            <c:spPr>
              <a:solidFill>
                <a:srgbClr val="2A9D8F"/>
              </a:solidFill>
              <a:ln>
                <a:noFill/>
              </a:ln>
            </c:spPr>
            <c:extLst>
              <c:ext xmlns:c16="http://schemas.microsoft.com/office/drawing/2014/chart" uri="{C3380CC4-5D6E-409C-BE32-E72D297353CC}">
                <c16:uniqueId val="{0000000D-B2E9-460B-80F5-F636E313AAE7}"/>
              </c:ext>
            </c:extLst>
          </c:dPt>
          <c:dPt>
            <c:idx val="7"/>
            <c:invertIfNegative val="1"/>
            <c:bubble3D val="0"/>
            <c:spPr>
              <a:solidFill>
                <a:srgbClr val="E08A00"/>
              </a:solidFill>
              <a:ln>
                <a:noFill/>
              </a:ln>
            </c:spPr>
            <c:extLst>
              <c:ext xmlns:c16="http://schemas.microsoft.com/office/drawing/2014/chart" uri="{C3380CC4-5D6E-409C-BE32-E72D297353CC}">
                <c16:uniqueId val="{0000000F-B2E9-460B-80F5-F636E313AAE7}"/>
              </c:ext>
            </c:extLst>
          </c:dPt>
          <c:dPt>
            <c:idx val="8"/>
            <c:invertIfNegative val="1"/>
            <c:bubble3D val="0"/>
            <c:spPr>
              <a:solidFill>
                <a:srgbClr val="E08A00"/>
              </a:solidFill>
              <a:ln>
                <a:noFill/>
              </a:ln>
            </c:spPr>
            <c:extLst>
              <c:ext xmlns:c16="http://schemas.microsoft.com/office/drawing/2014/chart" uri="{C3380CC4-5D6E-409C-BE32-E72D297353CC}">
                <c16:uniqueId val="{00000011-B2E9-460B-80F5-F636E313AAE7}"/>
              </c:ext>
            </c:extLst>
          </c:dPt>
          <c:dLbls>
            <c:numFmt formatCode="0.000" sourceLinked="0"/>
            <c:spPr>
              <a:noFill/>
              <a:ln>
                <a:noFill/>
              </a:ln>
              <a:effectLst/>
            </c:spPr>
            <c:txPr>
              <a:bodyPr/>
              <a:lstStyle/>
              <a:p>
                <a:pPr>
                  <a:defRPr sz="1200">
                    <a:solidFill>
                      <a:srgbClr val="1B1B1B"/>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Floor</c:v>
                </c:pt>
                <c:pt idx="1">
                  <c:v>Copula</c:v>
                </c:pt>
                <c:pt idx="2">
                  <c:v>Copula 0.25</c:v>
                </c:pt>
                <c:pt idx="3">
                  <c:v>Copula 0.10 (tuned)</c:v>
                </c:pt>
                <c:pt idx="4">
                  <c:v>CTGAN</c:v>
                </c:pt>
                <c:pt idx="5">
                  <c:v>CTGAN small</c:v>
                </c:pt>
                <c:pt idx="6">
                  <c:v>TVAE</c:v>
                </c:pt>
                <c:pt idx="7">
                  <c:v>Diffusion</c:v>
                </c:pt>
                <c:pt idx="8">
                  <c:v>Diffusion, regularized</c:v>
                </c:pt>
              </c:strCache>
            </c:strRef>
          </c:cat>
          <c:val>
            <c:numRef>
              <c:f>Sheet1!$B$2:$B$10</c:f>
              <c:numCache>
                <c:formatCode>General</c:formatCode>
                <c:ptCount val="9"/>
                <c:pt idx="0">
                  <c:v>1.6247727925120855E-2</c:v>
                </c:pt>
                <c:pt idx="1">
                  <c:v>1.6460860853394769E-2</c:v>
                </c:pt>
                <c:pt idx="2">
                  <c:v>1.6488608663918394E-2</c:v>
                </c:pt>
                <c:pt idx="3">
                  <c:v>1.6136060011932768E-2</c:v>
                </c:pt>
                <c:pt idx="4">
                  <c:v>9.3711249178600478E-2</c:v>
                </c:pt>
                <c:pt idx="5">
                  <c:v>7.2439720927980678E-2</c:v>
                </c:pt>
                <c:pt idx="6">
                  <c:v>0.10629829790642953</c:v>
                </c:pt>
                <c:pt idx="7">
                  <c:v>4.2207472227300105E-2</c:v>
                </c:pt>
                <c:pt idx="8">
                  <c:v>0.37784696729539008</c:v>
                </c:pt>
              </c:numCache>
            </c:numRef>
          </c:val>
          <c:extLst>
            <c:ext xmlns:c16="http://schemas.microsoft.com/office/drawing/2014/chart" uri="{C3380CC4-5D6E-409C-BE32-E72D297353CC}">
              <c16:uniqueId val="{00000012-B2E9-460B-80F5-F636E313AAE7}"/>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FBFBF"/>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0.45"/>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1B1B1B"/>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v</c:v>
                </c:pt>
              </c:strCache>
            </c:strRef>
          </c:tx>
          <c:invertIfNegative val="1"/>
          <c:dPt>
            <c:idx val="0"/>
            <c:invertIfNegative val="1"/>
            <c:bubble3D val="0"/>
            <c:spPr>
              <a:solidFill>
                <a:srgbClr val="8A8A8A"/>
              </a:solidFill>
              <a:ln>
                <a:noFill/>
              </a:ln>
            </c:spPr>
            <c:extLst>
              <c:ext xmlns:c16="http://schemas.microsoft.com/office/drawing/2014/chart" uri="{C3380CC4-5D6E-409C-BE32-E72D297353CC}">
                <c16:uniqueId val="{00000001-067E-411E-8D21-1B3B7203E98A}"/>
              </c:ext>
            </c:extLst>
          </c:dPt>
          <c:dPt>
            <c:idx val="1"/>
            <c:invertIfNegative val="1"/>
            <c:bubble3D val="0"/>
            <c:spPr>
              <a:solidFill>
                <a:srgbClr val="1E2761"/>
              </a:solidFill>
              <a:ln>
                <a:noFill/>
              </a:ln>
            </c:spPr>
            <c:extLst>
              <c:ext xmlns:c16="http://schemas.microsoft.com/office/drawing/2014/chart" uri="{C3380CC4-5D6E-409C-BE32-E72D297353CC}">
                <c16:uniqueId val="{00000003-067E-411E-8D21-1B3B7203E98A}"/>
              </c:ext>
            </c:extLst>
          </c:dPt>
          <c:dPt>
            <c:idx val="2"/>
            <c:invertIfNegative val="1"/>
            <c:bubble3D val="0"/>
            <c:spPr>
              <a:solidFill>
                <a:srgbClr val="1E2761"/>
              </a:solidFill>
              <a:ln>
                <a:noFill/>
              </a:ln>
            </c:spPr>
            <c:extLst>
              <c:ext xmlns:c16="http://schemas.microsoft.com/office/drawing/2014/chart" uri="{C3380CC4-5D6E-409C-BE32-E72D297353CC}">
                <c16:uniqueId val="{00000005-067E-411E-8D21-1B3B7203E98A}"/>
              </c:ext>
            </c:extLst>
          </c:dPt>
          <c:dPt>
            <c:idx val="3"/>
            <c:invertIfNegative val="1"/>
            <c:bubble3D val="0"/>
            <c:spPr>
              <a:solidFill>
                <a:srgbClr val="1E2761"/>
              </a:solidFill>
              <a:ln>
                <a:noFill/>
              </a:ln>
            </c:spPr>
            <c:extLst>
              <c:ext xmlns:c16="http://schemas.microsoft.com/office/drawing/2014/chart" uri="{C3380CC4-5D6E-409C-BE32-E72D297353CC}">
                <c16:uniqueId val="{00000007-067E-411E-8D21-1B3B7203E98A}"/>
              </c:ext>
            </c:extLst>
          </c:dPt>
          <c:dPt>
            <c:idx val="4"/>
            <c:invertIfNegative val="1"/>
            <c:bubble3D val="0"/>
            <c:spPr>
              <a:solidFill>
                <a:srgbClr val="7C93C3"/>
              </a:solidFill>
              <a:ln>
                <a:noFill/>
              </a:ln>
            </c:spPr>
            <c:extLst>
              <c:ext xmlns:c16="http://schemas.microsoft.com/office/drawing/2014/chart" uri="{C3380CC4-5D6E-409C-BE32-E72D297353CC}">
                <c16:uniqueId val="{00000009-067E-411E-8D21-1B3B7203E98A}"/>
              </c:ext>
            </c:extLst>
          </c:dPt>
          <c:dPt>
            <c:idx val="5"/>
            <c:invertIfNegative val="1"/>
            <c:bubble3D val="0"/>
            <c:spPr>
              <a:solidFill>
                <a:srgbClr val="7C93C3"/>
              </a:solidFill>
              <a:ln>
                <a:noFill/>
              </a:ln>
            </c:spPr>
            <c:extLst>
              <c:ext xmlns:c16="http://schemas.microsoft.com/office/drawing/2014/chart" uri="{C3380CC4-5D6E-409C-BE32-E72D297353CC}">
                <c16:uniqueId val="{0000000B-067E-411E-8D21-1B3B7203E98A}"/>
              </c:ext>
            </c:extLst>
          </c:dPt>
          <c:dPt>
            <c:idx val="6"/>
            <c:invertIfNegative val="1"/>
            <c:bubble3D val="0"/>
            <c:spPr>
              <a:solidFill>
                <a:srgbClr val="2A9D8F"/>
              </a:solidFill>
              <a:ln>
                <a:noFill/>
              </a:ln>
            </c:spPr>
            <c:extLst>
              <c:ext xmlns:c16="http://schemas.microsoft.com/office/drawing/2014/chart" uri="{C3380CC4-5D6E-409C-BE32-E72D297353CC}">
                <c16:uniqueId val="{0000000D-067E-411E-8D21-1B3B7203E98A}"/>
              </c:ext>
            </c:extLst>
          </c:dPt>
          <c:dPt>
            <c:idx val="7"/>
            <c:invertIfNegative val="1"/>
            <c:bubble3D val="0"/>
            <c:spPr>
              <a:solidFill>
                <a:srgbClr val="E08A00"/>
              </a:solidFill>
              <a:ln>
                <a:noFill/>
              </a:ln>
            </c:spPr>
            <c:extLst>
              <c:ext xmlns:c16="http://schemas.microsoft.com/office/drawing/2014/chart" uri="{C3380CC4-5D6E-409C-BE32-E72D297353CC}">
                <c16:uniqueId val="{0000000F-067E-411E-8D21-1B3B7203E98A}"/>
              </c:ext>
            </c:extLst>
          </c:dPt>
          <c:dPt>
            <c:idx val="8"/>
            <c:invertIfNegative val="1"/>
            <c:bubble3D val="0"/>
            <c:spPr>
              <a:solidFill>
                <a:srgbClr val="E08A00"/>
              </a:solidFill>
              <a:ln>
                <a:noFill/>
              </a:ln>
            </c:spPr>
            <c:extLst>
              <c:ext xmlns:c16="http://schemas.microsoft.com/office/drawing/2014/chart" uri="{C3380CC4-5D6E-409C-BE32-E72D297353CC}">
                <c16:uniqueId val="{00000011-067E-411E-8D21-1B3B7203E98A}"/>
              </c:ext>
            </c:extLst>
          </c:dPt>
          <c:dLbls>
            <c:numFmt formatCode="0.000" sourceLinked="0"/>
            <c:spPr>
              <a:noFill/>
              <a:ln>
                <a:noFill/>
              </a:ln>
              <a:effectLst/>
            </c:spPr>
            <c:txPr>
              <a:bodyPr/>
              <a:lstStyle/>
              <a:p>
                <a:pPr>
                  <a:defRPr sz="1200">
                    <a:solidFill>
                      <a:srgbClr val="1B1B1B"/>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Floor</c:v>
                </c:pt>
                <c:pt idx="1">
                  <c:v>Copula</c:v>
                </c:pt>
                <c:pt idx="2">
                  <c:v>Copula 0.25</c:v>
                </c:pt>
                <c:pt idx="3">
                  <c:v>Copula 0.10 (tuned)</c:v>
                </c:pt>
                <c:pt idx="4">
                  <c:v>CTGAN</c:v>
                </c:pt>
                <c:pt idx="5">
                  <c:v>CTGAN small</c:v>
                </c:pt>
                <c:pt idx="6">
                  <c:v>TVAE</c:v>
                </c:pt>
                <c:pt idx="7">
                  <c:v>Diffusion</c:v>
                </c:pt>
                <c:pt idx="8">
                  <c:v>Diffusion, regularized</c:v>
                </c:pt>
              </c:strCache>
            </c:strRef>
          </c:cat>
          <c:val>
            <c:numRef>
              <c:f>Sheet1!$B$2:$B$10</c:f>
              <c:numCache>
                <c:formatCode>General</c:formatCode>
                <c:ptCount val="9"/>
                <c:pt idx="0">
                  <c:v>0.16288163799428598</c:v>
                </c:pt>
                <c:pt idx="1">
                  <c:v>0.13761484475511279</c:v>
                </c:pt>
                <c:pt idx="2">
                  <c:v>0.10975692409628428</c:v>
                </c:pt>
                <c:pt idx="3">
                  <c:v>0.10199021096500185</c:v>
                </c:pt>
                <c:pt idx="4">
                  <c:v>0.16532580623346879</c:v>
                </c:pt>
                <c:pt idx="5">
                  <c:v>0.16901936010103857</c:v>
                </c:pt>
                <c:pt idx="6">
                  <c:v>0.12238827827127038</c:v>
                </c:pt>
                <c:pt idx="7">
                  <c:v>0.17426380721389254</c:v>
                </c:pt>
                <c:pt idx="8">
                  <c:v>0.16033715278274235</c:v>
                </c:pt>
              </c:numCache>
            </c:numRef>
          </c:val>
          <c:extLst>
            <c:ext xmlns:c16="http://schemas.microsoft.com/office/drawing/2014/chart" uri="{C3380CC4-5D6E-409C-BE32-E72D297353CC}">
              <c16:uniqueId val="{00000012-067E-411E-8D21-1B3B7203E98A}"/>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FBFBF"/>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0.21"/>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1B1B1B"/>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v</c:v>
                </c:pt>
              </c:strCache>
            </c:strRef>
          </c:tx>
          <c:invertIfNegative val="1"/>
          <c:dPt>
            <c:idx val="0"/>
            <c:invertIfNegative val="1"/>
            <c:bubble3D val="0"/>
            <c:spPr>
              <a:solidFill>
                <a:srgbClr val="8A8A8A"/>
              </a:solidFill>
              <a:ln>
                <a:noFill/>
              </a:ln>
            </c:spPr>
            <c:extLst>
              <c:ext xmlns:c16="http://schemas.microsoft.com/office/drawing/2014/chart" uri="{C3380CC4-5D6E-409C-BE32-E72D297353CC}">
                <c16:uniqueId val="{00000001-779D-4788-B417-39528116BB3C}"/>
              </c:ext>
            </c:extLst>
          </c:dPt>
          <c:dPt>
            <c:idx val="1"/>
            <c:invertIfNegative val="1"/>
            <c:bubble3D val="0"/>
            <c:spPr>
              <a:solidFill>
                <a:srgbClr val="1E2761"/>
              </a:solidFill>
              <a:ln>
                <a:noFill/>
              </a:ln>
            </c:spPr>
            <c:extLst>
              <c:ext xmlns:c16="http://schemas.microsoft.com/office/drawing/2014/chart" uri="{C3380CC4-5D6E-409C-BE32-E72D297353CC}">
                <c16:uniqueId val="{00000003-779D-4788-B417-39528116BB3C}"/>
              </c:ext>
            </c:extLst>
          </c:dPt>
          <c:dPt>
            <c:idx val="2"/>
            <c:invertIfNegative val="1"/>
            <c:bubble3D val="0"/>
            <c:spPr>
              <a:solidFill>
                <a:srgbClr val="1E2761"/>
              </a:solidFill>
              <a:ln>
                <a:noFill/>
              </a:ln>
            </c:spPr>
            <c:extLst>
              <c:ext xmlns:c16="http://schemas.microsoft.com/office/drawing/2014/chart" uri="{C3380CC4-5D6E-409C-BE32-E72D297353CC}">
                <c16:uniqueId val="{00000005-779D-4788-B417-39528116BB3C}"/>
              </c:ext>
            </c:extLst>
          </c:dPt>
          <c:dPt>
            <c:idx val="3"/>
            <c:invertIfNegative val="1"/>
            <c:bubble3D val="0"/>
            <c:spPr>
              <a:solidFill>
                <a:srgbClr val="1E2761"/>
              </a:solidFill>
              <a:ln>
                <a:noFill/>
              </a:ln>
            </c:spPr>
            <c:extLst>
              <c:ext xmlns:c16="http://schemas.microsoft.com/office/drawing/2014/chart" uri="{C3380CC4-5D6E-409C-BE32-E72D297353CC}">
                <c16:uniqueId val="{00000007-779D-4788-B417-39528116BB3C}"/>
              </c:ext>
            </c:extLst>
          </c:dPt>
          <c:dPt>
            <c:idx val="4"/>
            <c:invertIfNegative val="1"/>
            <c:bubble3D val="0"/>
            <c:spPr>
              <a:solidFill>
                <a:srgbClr val="7C93C3"/>
              </a:solidFill>
              <a:ln>
                <a:noFill/>
              </a:ln>
            </c:spPr>
            <c:extLst>
              <c:ext xmlns:c16="http://schemas.microsoft.com/office/drawing/2014/chart" uri="{C3380CC4-5D6E-409C-BE32-E72D297353CC}">
                <c16:uniqueId val="{00000009-779D-4788-B417-39528116BB3C}"/>
              </c:ext>
            </c:extLst>
          </c:dPt>
          <c:dPt>
            <c:idx val="5"/>
            <c:invertIfNegative val="1"/>
            <c:bubble3D val="0"/>
            <c:spPr>
              <a:solidFill>
                <a:srgbClr val="7C93C3"/>
              </a:solidFill>
              <a:ln>
                <a:noFill/>
              </a:ln>
            </c:spPr>
            <c:extLst>
              <c:ext xmlns:c16="http://schemas.microsoft.com/office/drawing/2014/chart" uri="{C3380CC4-5D6E-409C-BE32-E72D297353CC}">
                <c16:uniqueId val="{0000000B-779D-4788-B417-39528116BB3C}"/>
              </c:ext>
            </c:extLst>
          </c:dPt>
          <c:dPt>
            <c:idx val="6"/>
            <c:invertIfNegative val="1"/>
            <c:bubble3D val="0"/>
            <c:spPr>
              <a:solidFill>
                <a:srgbClr val="2A9D8F"/>
              </a:solidFill>
              <a:ln>
                <a:noFill/>
              </a:ln>
            </c:spPr>
            <c:extLst>
              <c:ext xmlns:c16="http://schemas.microsoft.com/office/drawing/2014/chart" uri="{C3380CC4-5D6E-409C-BE32-E72D297353CC}">
                <c16:uniqueId val="{0000000D-779D-4788-B417-39528116BB3C}"/>
              </c:ext>
            </c:extLst>
          </c:dPt>
          <c:dPt>
            <c:idx val="7"/>
            <c:invertIfNegative val="1"/>
            <c:bubble3D val="0"/>
            <c:spPr>
              <a:solidFill>
                <a:srgbClr val="E08A00"/>
              </a:solidFill>
              <a:ln>
                <a:noFill/>
              </a:ln>
            </c:spPr>
            <c:extLst>
              <c:ext xmlns:c16="http://schemas.microsoft.com/office/drawing/2014/chart" uri="{C3380CC4-5D6E-409C-BE32-E72D297353CC}">
                <c16:uniqueId val="{0000000F-779D-4788-B417-39528116BB3C}"/>
              </c:ext>
            </c:extLst>
          </c:dPt>
          <c:dPt>
            <c:idx val="8"/>
            <c:invertIfNegative val="1"/>
            <c:bubble3D val="0"/>
            <c:spPr>
              <a:solidFill>
                <a:srgbClr val="E08A00"/>
              </a:solidFill>
              <a:ln>
                <a:noFill/>
              </a:ln>
            </c:spPr>
            <c:extLst>
              <c:ext xmlns:c16="http://schemas.microsoft.com/office/drawing/2014/chart" uri="{C3380CC4-5D6E-409C-BE32-E72D297353CC}">
                <c16:uniqueId val="{00000011-779D-4788-B417-39528116BB3C}"/>
              </c:ext>
            </c:extLst>
          </c:dPt>
          <c:dLbls>
            <c:numFmt formatCode="0%" sourceLinked="0"/>
            <c:spPr>
              <a:noFill/>
              <a:ln>
                <a:noFill/>
              </a:ln>
              <a:effectLst/>
            </c:spPr>
            <c:txPr>
              <a:bodyPr/>
              <a:lstStyle/>
              <a:p>
                <a:pPr>
                  <a:defRPr sz="1200">
                    <a:solidFill>
                      <a:srgbClr val="1B1B1B"/>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Floor</c:v>
                </c:pt>
                <c:pt idx="1">
                  <c:v>Copula</c:v>
                </c:pt>
                <c:pt idx="2">
                  <c:v>Copula 0.25</c:v>
                </c:pt>
                <c:pt idx="3">
                  <c:v>Copula 0.10 (tuned)</c:v>
                </c:pt>
                <c:pt idx="4">
                  <c:v>CTGAN</c:v>
                </c:pt>
                <c:pt idx="5">
                  <c:v>CTGAN small</c:v>
                </c:pt>
                <c:pt idx="6">
                  <c:v>TVAE</c:v>
                </c:pt>
                <c:pt idx="7">
                  <c:v>Diffusion</c:v>
                </c:pt>
                <c:pt idx="8">
                  <c:v>Diffusion, regularized</c:v>
                </c:pt>
              </c:strCache>
            </c:strRef>
          </c:cat>
          <c:val>
            <c:numRef>
              <c:f>Sheet1!$B$2:$B$10</c:f>
              <c:numCache>
                <c:formatCode>General</c:formatCode>
                <c:ptCount val="9"/>
                <c:pt idx="0">
                  <c:v>1.3696808510638297E-2</c:v>
                </c:pt>
                <c:pt idx="1">
                  <c:v>1.9015957446808514E-2</c:v>
                </c:pt>
                <c:pt idx="2">
                  <c:v>3.8031914893617021E-2</c:v>
                </c:pt>
                <c:pt idx="3">
                  <c:v>4.2819148936170212E-2</c:v>
                </c:pt>
                <c:pt idx="4">
                  <c:v>1.276595744680851E-2</c:v>
                </c:pt>
                <c:pt idx="5">
                  <c:v>1.0106382978723405E-2</c:v>
                </c:pt>
                <c:pt idx="6">
                  <c:v>5.7712765957446802E-2</c:v>
                </c:pt>
                <c:pt idx="7">
                  <c:v>0.35824468085106381</c:v>
                </c:pt>
                <c:pt idx="8">
                  <c:v>0.2079787234042553</c:v>
                </c:pt>
              </c:numCache>
            </c:numRef>
          </c:val>
          <c:extLst>
            <c:ext xmlns:c16="http://schemas.microsoft.com/office/drawing/2014/chart" uri="{C3380CC4-5D6E-409C-BE32-E72D297353CC}">
              <c16:uniqueId val="{00000012-779D-4788-B417-39528116BB3C}"/>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FBFBF"/>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0.42"/>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1B1B1B"/>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31051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Our project is called Doppel, after doppelganger: a copy that looks like the original but isn't. We asked whether a generator can produce synthetic patient records that look real, are useful for building a prediction model, and still protect the patients it learned from. We answered it with a controlled benchmark: nine generator settings, one real ICU dataset, the same tests for all, repeated twenty times. The four tracks are on the right.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Hospital records are exactly what you need to build clinical prediction models, and the most sensitive data there is. Synthetic data is the proposed way out. On the right are four rows our best generator produced: plausible, but none of these people exists. To be worth releasing, synthetic data must pass three tests at once: realistic, useful and private. The catch is that copying a real patient passes the first two and fails the third. Since existing papers each use their own setup, we asked the question at the bottom under one fixed protocol.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method is a controlled experiment, and the top row shows how the four tracks fit together. Track 3 prepares one clean table, Track 1 trains the generators, my track evaluates every synthetic table, and Track 4 packages it in containers. Everything except the generator is held fixed. The data is the open MIMIC-III demo: 129 admissions, each square is one, red ones died in hospital. We split by patient. Two caveats are visible: only six held-out deaths, and one patient with fifteen stays, the outlined squares.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families, nine settings, ordered from rigid to flexible. The floor samples each column independently, deliberately dumb. The Gaussian copula is a classic statistical model; its shrinkage controls how much correlation it keeps, and Track 1 tuned it to 0.10. Then three neural families: CTGAN, TVAE, which is known to copy rows and so tests our attacks, and a TabDDPM-style diffusion model. Below are the three measures, one per test. For privacy we run three different membership attacks and always report the strongest. Note the constraint: 110 encoded columns but only 94 rows.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realism. Column by column, the floor and the three copulas are near perfect at 0.016, which is no surprise for the floor since it copies each column's distribution by design. The neural models are 2.6 to 23 times further away. The right chart matters more: relationships between columns. The floor has none, the tuned copula keeps the most, and CTGAN and the diffusion model are actually worse than the floor here.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Second, usefulness. Each dot is the average prediction score over twenty runs; the line shows how much it moves, a lot, because there are only six held-out deaths. The two diffusion models score highest, even above models trained on real data, which should make you suspicious. The right panel shows why: regularized diffusion kills 79 percent of its synthetic patients against a real 36, and TVAE only 21. The copulas keep the real rate, and the tuned copula is statistically level with TVAE and diffusion.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Third, privacy, and the most striking number. Average scores can hide a few very exposed patients, so following Carlini and colleagues we ask: if the attacker may wrongly accuse only one person in a hundred, how many training records does it find? For the copulas, two to four percent. For diffusion, 36 percent, more than one in three. Regularizing brings it to 21, at the cost of a wrong death rate. And we tested the attack itself first: unseen real patients give 0.50, exact copies 1.00, and it correctly flags TVAE, a model known to copy rows.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Putting usefulness against leakage, the ideal corner is empty. TVAE and diffusion buy their score with leakage; CTGAN and the floor leak least but predict least; the copulas sit between, and the tuned one is closest to the corner. Eight of nine are on the Pareto frontier, but remove utility and TVAE and diffusion drop off completely: their only strength is a score we saw is inflated. So our verdict is the tuned Gaussian copula. It wins because, with more columns than rows, flexible networks can memorise and the copula cannot.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takeaways. On small clinical data, model capacity is itself a privacy risk. The tuned Gaussian copula gave the best balance of the three tests. And privacy has to be measured with attacks that are themselves checked. We are also clear about the limits: one small dataset, noisy prediction scores, one patient dominating the held-out set, and attacks that can only show risk, not rule it out. Each points to a next step. Thank you; every number is on the live dashboard.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sources cited on the slides: the dataset, the three generator families, the attack methods and the benchmarks we compare against. Every chart comes from our own runs.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6739128"/>
            <a:ext cx="12191695" cy="11887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logo.jpg"/>
          <p:cNvPicPr>
            <a:picLocks noChangeAspect="1"/>
          </p:cNvPicPr>
          <p:nvPr/>
        </p:nvPicPr>
        <p:blipFill>
          <a:blip r:embed="rId3"/>
          <a:stretch>
            <a:fillRect/>
          </a:stretch>
        </p:blipFill>
        <p:spPr>
          <a:xfrm>
            <a:off x="0" y="758952"/>
            <a:ext cx="2377440" cy="1143000"/>
          </a:xfrm>
          <a:prstGeom prst="rect">
            <a:avLst/>
          </a:prstGeom>
        </p:spPr>
      </p:pic>
      <p:sp>
        <p:nvSpPr>
          <p:cNvPr id="5" name="TextBox 4"/>
          <p:cNvSpPr txBox="1"/>
          <p:nvPr/>
        </p:nvSpPr>
        <p:spPr>
          <a:xfrm>
            <a:off x="548640" y="2103120"/>
            <a:ext cx="6766560" cy="320040"/>
          </a:xfrm>
          <a:prstGeom prst="rect">
            <a:avLst/>
          </a:prstGeom>
          <a:noFill/>
        </p:spPr>
        <p:txBody>
          <a:bodyPr wrap="square" lIns="0" tIns="0" rIns="0" bIns="0" anchor="t">
            <a:spAutoFit/>
          </a:bodyPr>
          <a:lstStyle/>
          <a:p>
            <a:r>
              <a:rPr sz="1400" b="1" i="0" spc="300">
                <a:solidFill>
                  <a:srgbClr val="1E2761"/>
                </a:solidFill>
                <a:latin typeface="Calibri"/>
              </a:rPr>
              <a:t>BIG DATA ANALYSIS  ·  COURSE PROJECT</a:t>
            </a:r>
          </a:p>
        </p:txBody>
      </p:sp>
      <p:sp>
        <p:nvSpPr>
          <p:cNvPr id="6" name="TextBox 5"/>
          <p:cNvSpPr txBox="1"/>
          <p:nvPr/>
        </p:nvSpPr>
        <p:spPr>
          <a:xfrm>
            <a:off x="548640" y="2555855"/>
            <a:ext cx="6766560" cy="923330"/>
          </a:xfrm>
          <a:prstGeom prst="rect">
            <a:avLst/>
          </a:prstGeom>
          <a:noFill/>
        </p:spPr>
        <p:txBody>
          <a:bodyPr wrap="square" lIns="0" tIns="0" rIns="0" bIns="0" anchor="ctr">
            <a:spAutoFit/>
          </a:bodyPr>
          <a:lstStyle/>
          <a:p>
            <a:r>
              <a:rPr sz="6000" b="1" i="1" dirty="0">
                <a:solidFill>
                  <a:srgbClr val="C00000"/>
                </a:solidFill>
                <a:latin typeface="Cambria"/>
              </a:rPr>
              <a:t>Doppel</a:t>
            </a:r>
          </a:p>
        </p:txBody>
      </p:sp>
      <p:sp>
        <p:nvSpPr>
          <p:cNvPr id="7" name="TextBox 6"/>
          <p:cNvSpPr txBox="1"/>
          <p:nvPr/>
        </p:nvSpPr>
        <p:spPr>
          <a:xfrm>
            <a:off x="548640" y="3611880"/>
            <a:ext cx="6309360" cy="1097280"/>
          </a:xfrm>
          <a:prstGeom prst="rect">
            <a:avLst/>
          </a:prstGeom>
          <a:noFill/>
        </p:spPr>
        <p:txBody>
          <a:bodyPr wrap="square" lIns="0" tIns="0" rIns="0" bIns="0" anchor="t">
            <a:spAutoFit/>
          </a:bodyPr>
          <a:lstStyle/>
          <a:p>
            <a:pPr>
              <a:lnSpc>
                <a:spcPct val="105000"/>
              </a:lnSpc>
            </a:pPr>
            <a:r>
              <a:rPr sz="2400" b="0" i="0">
                <a:solidFill>
                  <a:srgbClr val="1B1B1B"/>
                </a:solidFill>
                <a:latin typeface="Calibri"/>
              </a:rPr>
              <a:t>Which synthetic health-record generator is realistic, useful </a:t>
            </a:r>
            <a:r>
              <a:rPr sz="2400" b="0" i="1">
                <a:solidFill>
                  <a:srgbClr val="1B1B1B"/>
                </a:solidFill>
                <a:latin typeface="Calibri"/>
              </a:rPr>
              <a:t>and</a:t>
            </a:r>
            <a:r>
              <a:rPr sz="2400" b="0" i="0">
                <a:solidFill>
                  <a:srgbClr val="1B1B1B"/>
                </a:solidFill>
                <a:latin typeface="Calibri"/>
              </a:rPr>
              <a:t> private?</a:t>
            </a:r>
          </a:p>
        </p:txBody>
      </p:sp>
      <p:sp>
        <p:nvSpPr>
          <p:cNvPr id="8" name="TextBox 7"/>
          <p:cNvSpPr txBox="1"/>
          <p:nvPr/>
        </p:nvSpPr>
        <p:spPr>
          <a:xfrm>
            <a:off x="548640" y="4572000"/>
            <a:ext cx="6309360" cy="365760"/>
          </a:xfrm>
          <a:prstGeom prst="rect">
            <a:avLst/>
          </a:prstGeom>
          <a:noFill/>
        </p:spPr>
        <p:txBody>
          <a:bodyPr wrap="square" lIns="0" tIns="0" rIns="0" bIns="0" anchor="t">
            <a:spAutoFit/>
          </a:bodyPr>
          <a:lstStyle/>
          <a:p>
            <a:r>
              <a:rPr sz="1500" b="0" i="0">
                <a:solidFill>
                  <a:srgbClr val="595959"/>
                </a:solidFill>
                <a:latin typeface="Calibri"/>
              </a:rPr>
              <a:t>A controlled benchmark of nine generators on real ICU records, 180 runs</a:t>
            </a:r>
          </a:p>
        </p:txBody>
      </p:sp>
      <p:pic>
        <p:nvPicPr>
          <p:cNvPr id="9" name="Picture 8" descr="lockup.png"/>
          <p:cNvPicPr>
            <a:picLocks noChangeAspect="1"/>
          </p:cNvPicPr>
          <p:nvPr/>
        </p:nvPicPr>
        <p:blipFill>
          <a:blip r:embed="rId4"/>
          <a:stretch>
            <a:fillRect/>
          </a:stretch>
        </p:blipFill>
        <p:spPr>
          <a:xfrm>
            <a:off x="365760" y="5074920"/>
            <a:ext cx="3511296" cy="1170432"/>
          </a:xfrm>
          <a:prstGeom prst="rect">
            <a:avLst/>
          </a:prstGeom>
        </p:spPr>
      </p:pic>
      <p:sp>
        <p:nvSpPr>
          <p:cNvPr id="10" name="Rectangle 9"/>
          <p:cNvSpPr/>
          <p:nvPr/>
        </p:nvSpPr>
        <p:spPr>
          <a:xfrm>
            <a:off x="7498079" y="1920240"/>
            <a:ext cx="4114800" cy="3931920"/>
          </a:xfrm>
          <a:prstGeom prst="rect">
            <a:avLst/>
          </a:prstGeom>
          <a:solidFill>
            <a:srgbClr val="F6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7498079" y="1920240"/>
            <a:ext cx="411480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818120" y="2194560"/>
            <a:ext cx="3474720" cy="365760"/>
          </a:xfrm>
          <a:prstGeom prst="rect">
            <a:avLst/>
          </a:prstGeom>
          <a:noFill/>
        </p:spPr>
        <p:txBody>
          <a:bodyPr wrap="square" lIns="0" tIns="0" rIns="0" bIns="0" anchor="t">
            <a:spAutoFit/>
          </a:bodyPr>
          <a:lstStyle/>
          <a:p>
            <a:r>
              <a:rPr sz="1300" b="1" i="0" spc="250">
                <a:solidFill>
                  <a:srgbClr val="C00000"/>
                </a:solidFill>
                <a:latin typeface="Calibri"/>
              </a:rPr>
              <a:t>THE TEAM</a:t>
            </a:r>
          </a:p>
        </p:txBody>
      </p:sp>
      <p:sp>
        <p:nvSpPr>
          <p:cNvPr id="13" name="TextBox 12"/>
          <p:cNvSpPr txBox="1"/>
          <p:nvPr/>
        </p:nvSpPr>
        <p:spPr>
          <a:xfrm>
            <a:off x="7818120" y="2697480"/>
            <a:ext cx="3566160" cy="310896"/>
          </a:xfrm>
          <a:prstGeom prst="rect">
            <a:avLst/>
          </a:prstGeom>
          <a:noFill/>
        </p:spPr>
        <p:txBody>
          <a:bodyPr wrap="square" lIns="0" tIns="0" rIns="0" bIns="0" anchor="t">
            <a:spAutoFit/>
          </a:bodyPr>
          <a:lstStyle/>
          <a:p>
            <a:r>
              <a:rPr sz="1800" b="1" i="0">
                <a:solidFill>
                  <a:srgbClr val="1B1B1B"/>
                </a:solidFill>
                <a:latin typeface="Calibri"/>
              </a:rPr>
              <a:t>Angshuman</a:t>
            </a:r>
            <a:r>
              <a:rPr sz="1200" b="1" i="0">
                <a:solidFill>
                  <a:srgbClr val="C00000"/>
                </a:solidFill>
                <a:latin typeface="Calibri"/>
              </a:rPr>
              <a:t>   Track 1</a:t>
            </a:r>
          </a:p>
        </p:txBody>
      </p:sp>
      <p:sp>
        <p:nvSpPr>
          <p:cNvPr id="14" name="TextBox 13"/>
          <p:cNvSpPr txBox="1"/>
          <p:nvPr/>
        </p:nvSpPr>
        <p:spPr>
          <a:xfrm>
            <a:off x="7818120" y="3026664"/>
            <a:ext cx="3566160" cy="274320"/>
          </a:xfrm>
          <a:prstGeom prst="rect">
            <a:avLst/>
          </a:prstGeom>
          <a:noFill/>
        </p:spPr>
        <p:txBody>
          <a:bodyPr wrap="square" lIns="0" tIns="0" rIns="0" bIns="0" anchor="t">
            <a:spAutoFit/>
          </a:bodyPr>
          <a:lstStyle/>
          <a:p>
            <a:r>
              <a:rPr sz="1250" b="0" i="0">
                <a:solidFill>
                  <a:srgbClr val="595959"/>
                </a:solidFill>
                <a:latin typeface="Calibri"/>
              </a:rPr>
              <a:t>Generation: builds and tunes the generators</a:t>
            </a:r>
          </a:p>
        </p:txBody>
      </p:sp>
      <p:sp>
        <p:nvSpPr>
          <p:cNvPr id="15" name="TextBox 14"/>
          <p:cNvSpPr txBox="1"/>
          <p:nvPr/>
        </p:nvSpPr>
        <p:spPr>
          <a:xfrm>
            <a:off x="7818120" y="3465576"/>
            <a:ext cx="3566160" cy="310896"/>
          </a:xfrm>
          <a:prstGeom prst="rect">
            <a:avLst/>
          </a:prstGeom>
          <a:noFill/>
        </p:spPr>
        <p:txBody>
          <a:bodyPr wrap="square" lIns="0" tIns="0" rIns="0" bIns="0" anchor="t">
            <a:spAutoFit/>
          </a:bodyPr>
          <a:lstStyle/>
          <a:p>
            <a:r>
              <a:rPr sz="1800" b="1" i="0">
                <a:solidFill>
                  <a:srgbClr val="1B1B1B"/>
                </a:solidFill>
                <a:latin typeface="Calibri"/>
              </a:rPr>
              <a:t>Md Rayyan</a:t>
            </a:r>
            <a:r>
              <a:rPr sz="1200" b="1" i="0">
                <a:solidFill>
                  <a:srgbClr val="C00000"/>
                </a:solidFill>
                <a:latin typeface="Calibri"/>
              </a:rPr>
              <a:t>   Track 2</a:t>
            </a:r>
          </a:p>
        </p:txBody>
      </p:sp>
      <p:sp>
        <p:nvSpPr>
          <p:cNvPr id="16" name="TextBox 15"/>
          <p:cNvSpPr txBox="1"/>
          <p:nvPr/>
        </p:nvSpPr>
        <p:spPr>
          <a:xfrm>
            <a:off x="7818120" y="3794760"/>
            <a:ext cx="3566160" cy="274320"/>
          </a:xfrm>
          <a:prstGeom prst="rect">
            <a:avLst/>
          </a:prstGeom>
          <a:noFill/>
        </p:spPr>
        <p:txBody>
          <a:bodyPr wrap="square" lIns="0" tIns="0" rIns="0" bIns="0" anchor="t">
            <a:spAutoFit/>
          </a:bodyPr>
          <a:lstStyle/>
          <a:p>
            <a:r>
              <a:rPr sz="1250" b="0" i="0">
                <a:solidFill>
                  <a:srgbClr val="595959"/>
                </a:solidFill>
                <a:latin typeface="Calibri"/>
              </a:rPr>
              <a:t>Evaluation: metrics, attacks and the dashboard</a:t>
            </a:r>
          </a:p>
        </p:txBody>
      </p:sp>
      <p:sp>
        <p:nvSpPr>
          <p:cNvPr id="17" name="TextBox 16"/>
          <p:cNvSpPr txBox="1"/>
          <p:nvPr/>
        </p:nvSpPr>
        <p:spPr>
          <a:xfrm>
            <a:off x="7818120" y="4233672"/>
            <a:ext cx="3566160" cy="310896"/>
          </a:xfrm>
          <a:prstGeom prst="rect">
            <a:avLst/>
          </a:prstGeom>
          <a:noFill/>
        </p:spPr>
        <p:txBody>
          <a:bodyPr wrap="square" lIns="0" tIns="0" rIns="0" bIns="0" anchor="t">
            <a:spAutoFit/>
          </a:bodyPr>
          <a:lstStyle/>
          <a:p>
            <a:r>
              <a:rPr sz="1800" b="1" i="0">
                <a:solidFill>
                  <a:srgbClr val="1B1B1B"/>
                </a:solidFill>
                <a:latin typeface="Calibri"/>
              </a:rPr>
              <a:t>Anoushka</a:t>
            </a:r>
            <a:r>
              <a:rPr sz="1200" b="1" i="0">
                <a:solidFill>
                  <a:srgbClr val="C00000"/>
                </a:solidFill>
                <a:latin typeface="Calibri"/>
              </a:rPr>
              <a:t>   Track 3</a:t>
            </a:r>
          </a:p>
        </p:txBody>
      </p:sp>
      <p:sp>
        <p:nvSpPr>
          <p:cNvPr id="18" name="TextBox 17"/>
          <p:cNvSpPr txBox="1"/>
          <p:nvPr/>
        </p:nvSpPr>
        <p:spPr>
          <a:xfrm>
            <a:off x="7818120" y="4562856"/>
            <a:ext cx="3566160" cy="274320"/>
          </a:xfrm>
          <a:prstGeom prst="rect">
            <a:avLst/>
          </a:prstGeom>
          <a:noFill/>
        </p:spPr>
        <p:txBody>
          <a:bodyPr wrap="square" lIns="0" tIns="0" rIns="0" bIns="0" anchor="t">
            <a:spAutoFit/>
          </a:bodyPr>
          <a:lstStyle/>
          <a:p>
            <a:r>
              <a:rPr sz="1250" b="0" i="0">
                <a:solidFill>
                  <a:srgbClr val="595959"/>
                </a:solidFill>
                <a:latin typeface="Calibri"/>
              </a:rPr>
              <a:t>Data: cleaning, validation and the split</a:t>
            </a:r>
          </a:p>
        </p:txBody>
      </p:sp>
      <p:sp>
        <p:nvSpPr>
          <p:cNvPr id="19" name="TextBox 18"/>
          <p:cNvSpPr txBox="1"/>
          <p:nvPr/>
        </p:nvSpPr>
        <p:spPr>
          <a:xfrm>
            <a:off x="7818120" y="5001768"/>
            <a:ext cx="3566160" cy="310896"/>
          </a:xfrm>
          <a:prstGeom prst="rect">
            <a:avLst/>
          </a:prstGeom>
          <a:noFill/>
        </p:spPr>
        <p:txBody>
          <a:bodyPr wrap="square" lIns="0" tIns="0" rIns="0" bIns="0" anchor="t">
            <a:spAutoFit/>
          </a:bodyPr>
          <a:lstStyle/>
          <a:p>
            <a:r>
              <a:rPr sz="1800" b="1" i="0">
                <a:solidFill>
                  <a:srgbClr val="1B1B1B"/>
                </a:solidFill>
                <a:latin typeface="Calibri"/>
              </a:rPr>
              <a:t>Anshuman CE</a:t>
            </a:r>
            <a:r>
              <a:rPr sz="1200" b="1" i="0">
                <a:solidFill>
                  <a:srgbClr val="C00000"/>
                </a:solidFill>
                <a:latin typeface="Calibri"/>
              </a:rPr>
              <a:t>   Track 4</a:t>
            </a:r>
          </a:p>
        </p:txBody>
      </p:sp>
      <p:sp>
        <p:nvSpPr>
          <p:cNvPr id="20" name="TextBox 19"/>
          <p:cNvSpPr txBox="1"/>
          <p:nvPr/>
        </p:nvSpPr>
        <p:spPr>
          <a:xfrm>
            <a:off x="7818120" y="5330952"/>
            <a:ext cx="3566160" cy="274320"/>
          </a:xfrm>
          <a:prstGeom prst="rect">
            <a:avLst/>
          </a:prstGeom>
          <a:noFill/>
        </p:spPr>
        <p:txBody>
          <a:bodyPr wrap="square" lIns="0" tIns="0" rIns="0" bIns="0" anchor="t">
            <a:spAutoFit/>
          </a:bodyPr>
          <a:lstStyle/>
          <a:p>
            <a:r>
              <a:rPr sz="1250" b="0" i="0">
                <a:solidFill>
                  <a:srgbClr val="595959"/>
                </a:solidFill>
                <a:latin typeface="Calibri"/>
              </a:rPr>
              <a:t>Systems: Docker, Kubernetes, delivery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6739128"/>
            <a:ext cx="12191695" cy="11887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logo.jpg"/>
          <p:cNvPicPr>
            <a:picLocks noChangeAspect="1"/>
          </p:cNvPicPr>
          <p:nvPr/>
        </p:nvPicPr>
        <p:blipFill>
          <a:blip r:embed="rId3"/>
          <a:stretch>
            <a:fillRect/>
          </a:stretch>
        </p:blipFill>
        <p:spPr>
          <a:xfrm>
            <a:off x="0" y="256032"/>
            <a:ext cx="2377440" cy="1143000"/>
          </a:xfrm>
          <a:prstGeom prst="rect">
            <a:avLst/>
          </a:prstGeom>
        </p:spPr>
      </p:pic>
      <p:sp>
        <p:nvSpPr>
          <p:cNvPr id="5" name="TextBox 4"/>
          <p:cNvSpPr txBox="1"/>
          <p:nvPr/>
        </p:nvSpPr>
        <p:spPr>
          <a:xfrm>
            <a:off x="2651760" y="0"/>
            <a:ext cx="9235440" cy="758952"/>
          </a:xfrm>
          <a:prstGeom prst="rect">
            <a:avLst/>
          </a:prstGeom>
          <a:noFill/>
        </p:spPr>
        <p:txBody>
          <a:bodyPr wrap="square" lIns="0" tIns="0" rIns="0" bIns="0" anchor="ctr">
            <a:spAutoFit/>
          </a:bodyPr>
          <a:lstStyle/>
          <a:p>
            <a:r>
              <a:rPr sz="2600" b="1" i="0">
                <a:solidFill>
                  <a:srgbClr val="FFFFFF"/>
                </a:solidFill>
                <a:latin typeface="Cambria"/>
              </a:rPr>
              <a:t>Why synthetic health data, and why it is hard</a:t>
            </a:r>
          </a:p>
        </p:txBody>
      </p:sp>
      <p:sp>
        <p:nvSpPr>
          <p:cNvPr id="6" name="TextBox 5"/>
          <p:cNvSpPr txBox="1"/>
          <p:nvPr/>
        </p:nvSpPr>
        <p:spPr>
          <a:xfrm>
            <a:off x="548640" y="6419088"/>
            <a:ext cx="7315200" cy="256032"/>
          </a:xfrm>
          <a:prstGeom prst="rect">
            <a:avLst/>
          </a:prstGeom>
          <a:noFill/>
        </p:spPr>
        <p:txBody>
          <a:bodyPr wrap="square" lIns="0" tIns="0" rIns="0" bIns="0" anchor="ctr">
            <a:spAutoFit/>
          </a:bodyPr>
          <a:lstStyle/>
          <a:p>
            <a:r>
              <a:rPr sz="1100" b="0" i="0">
                <a:solidFill>
                  <a:srgbClr val="595959"/>
                </a:solidFill>
                <a:latin typeface="Calibri"/>
              </a:rPr>
              <a:t>Project Doppel</a:t>
            </a:r>
            <a:r>
              <a:rPr sz="1100" b="0" i="0">
                <a:solidFill>
                  <a:srgbClr val="1B1B1B"/>
                </a:solidFill>
                <a:latin typeface="Calibri"/>
              </a:rPr>
              <a:t>     </a:t>
            </a:r>
            <a:r>
              <a:rPr sz="1100" b="1" i="0">
                <a:solidFill>
                  <a:srgbClr val="C00000"/>
                </a:solidFill>
                <a:latin typeface="Calibri"/>
              </a:rPr>
              <a:t>Problem</a:t>
            </a:r>
            <a:r>
              <a:rPr sz="1100" b="0" i="0">
                <a:solidFill>
                  <a:srgbClr val="BFBFBF"/>
                </a:solidFill>
                <a:latin typeface="Calibri"/>
              </a:rPr>
              <a:t>  ·  </a:t>
            </a:r>
            <a:r>
              <a:rPr sz="1100" b="0" i="0">
                <a:solidFill>
                  <a:srgbClr val="A6A6A6"/>
                </a:solidFill>
                <a:latin typeface="Calibri"/>
              </a:rPr>
              <a:t>Method</a:t>
            </a:r>
            <a:r>
              <a:rPr sz="1100" b="0" i="0">
                <a:solidFill>
                  <a:srgbClr val="BFBFBF"/>
                </a:solidFill>
                <a:latin typeface="Calibri"/>
              </a:rPr>
              <a:t>  ·  </a:t>
            </a:r>
            <a:r>
              <a:rPr sz="1100" b="0" i="0">
                <a:solidFill>
                  <a:srgbClr val="A6A6A6"/>
                </a:solidFill>
                <a:latin typeface="Calibri"/>
              </a:rPr>
              <a:t>Results</a:t>
            </a:r>
            <a:r>
              <a:rPr sz="1100" b="0" i="0">
                <a:solidFill>
                  <a:srgbClr val="BFBFBF"/>
                </a:solidFill>
                <a:latin typeface="Calibri"/>
              </a:rPr>
              <a:t>  ·  </a:t>
            </a:r>
            <a:r>
              <a:rPr sz="1100" b="0" i="0">
                <a:solidFill>
                  <a:srgbClr val="A6A6A6"/>
                </a:solidFill>
                <a:latin typeface="Calibri"/>
              </a:rPr>
              <a:t>Close</a:t>
            </a:r>
          </a:p>
        </p:txBody>
      </p:sp>
      <p:sp>
        <p:nvSpPr>
          <p:cNvPr id="7" name="TextBox 6"/>
          <p:cNvSpPr txBox="1"/>
          <p:nvPr/>
        </p:nvSpPr>
        <p:spPr>
          <a:xfrm>
            <a:off x="10881360" y="6419088"/>
            <a:ext cx="758952" cy="256032"/>
          </a:xfrm>
          <a:prstGeom prst="rect">
            <a:avLst/>
          </a:prstGeom>
          <a:noFill/>
        </p:spPr>
        <p:txBody>
          <a:bodyPr wrap="square" lIns="0" tIns="0" rIns="0" bIns="0" anchor="ctr">
            <a:spAutoFit/>
          </a:bodyPr>
          <a:lstStyle/>
          <a:p>
            <a:pPr algn="r"/>
            <a:r>
              <a:rPr sz="1100" b="0" i="0">
                <a:solidFill>
                  <a:srgbClr val="595959"/>
                </a:solidFill>
                <a:latin typeface="Calibri"/>
              </a:rPr>
              <a:t>2 / 10</a:t>
            </a:r>
          </a:p>
        </p:txBody>
      </p:sp>
      <p:sp>
        <p:nvSpPr>
          <p:cNvPr id="8" name="TextBox 7"/>
          <p:cNvSpPr txBox="1"/>
          <p:nvPr/>
        </p:nvSpPr>
        <p:spPr>
          <a:xfrm>
            <a:off x="548640" y="1554480"/>
            <a:ext cx="5577840" cy="822960"/>
          </a:xfrm>
          <a:prstGeom prst="rect">
            <a:avLst/>
          </a:prstGeom>
          <a:noFill/>
        </p:spPr>
        <p:txBody>
          <a:bodyPr wrap="square" lIns="0" tIns="0" rIns="0" bIns="0" anchor="t">
            <a:spAutoFit/>
          </a:bodyPr>
          <a:lstStyle/>
          <a:p>
            <a:pPr>
              <a:lnSpc>
                <a:spcPct val="105000"/>
              </a:lnSpc>
            </a:pPr>
            <a:r>
              <a:rPr sz="1900" b="1" i="0">
                <a:solidFill>
                  <a:srgbClr val="1B1B1B"/>
                </a:solidFill>
                <a:latin typeface="Cambria"/>
              </a:rPr>
              <a:t>Patient records are some of the most valuable data in medicine, and the hardest to share.</a:t>
            </a:r>
          </a:p>
        </p:txBody>
      </p:sp>
      <p:sp>
        <p:nvSpPr>
          <p:cNvPr id="9" name="TextBox 8"/>
          <p:cNvSpPr txBox="1"/>
          <p:nvPr/>
        </p:nvSpPr>
        <p:spPr>
          <a:xfrm>
            <a:off x="548640" y="2395728"/>
            <a:ext cx="5577840" cy="1143000"/>
          </a:xfrm>
          <a:prstGeom prst="rect">
            <a:avLst/>
          </a:prstGeom>
          <a:noFill/>
        </p:spPr>
        <p:txBody>
          <a:bodyPr wrap="square" lIns="0" tIns="0" rIns="0" bIns="0" anchor="t">
            <a:spAutoFit/>
          </a:bodyPr>
          <a:lstStyle/>
          <a:p>
            <a:pPr>
              <a:lnSpc>
                <a:spcPct val="105000"/>
              </a:lnSpc>
              <a:spcAft>
                <a:spcPts val="600"/>
              </a:spcAft>
            </a:pPr>
            <a:r>
              <a:rPr sz="1350" b="1" i="0">
                <a:solidFill>
                  <a:srgbClr val="1B1B1B"/>
                </a:solidFill>
                <a:latin typeface="Calibri"/>
              </a:rPr>
              <a:t>The barrier: </a:t>
            </a:r>
            <a:r>
              <a:rPr sz="1350" b="0" i="0">
                <a:solidFill>
                  <a:srgbClr val="595959"/>
                </a:solidFill>
                <a:latin typeface="Calibri"/>
              </a:rPr>
              <a:t>privacy law and ethics review limit access. Even de-identified MIMIC-III is released only to credentialed researchers [1].</a:t>
            </a:r>
          </a:p>
          <a:p>
            <a:pPr>
              <a:lnSpc>
                <a:spcPct val="105000"/>
              </a:lnSpc>
            </a:pPr>
            <a:r>
              <a:rPr sz="1350" b="1" i="0">
                <a:solidFill>
                  <a:srgbClr val="1B1B1B"/>
                </a:solidFill>
                <a:latin typeface="Calibri"/>
              </a:rPr>
              <a:t>The promise: </a:t>
            </a:r>
            <a:r>
              <a:rPr sz="1350" b="0" i="0">
                <a:solidFill>
                  <a:srgbClr val="595959"/>
                </a:solidFill>
                <a:latin typeface="Calibri"/>
              </a:rPr>
              <a:t>synthetic data, new artificial records that keep the patterns but contain no real patient.</a:t>
            </a:r>
          </a:p>
        </p:txBody>
      </p:sp>
      <p:sp>
        <p:nvSpPr>
          <p:cNvPr id="10" name="Rectangle 9"/>
          <p:cNvSpPr/>
          <p:nvPr/>
        </p:nvSpPr>
        <p:spPr>
          <a:xfrm>
            <a:off x="548640" y="3639312"/>
            <a:ext cx="1737360" cy="457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3730752"/>
            <a:ext cx="1737360" cy="320040"/>
          </a:xfrm>
          <a:prstGeom prst="rect">
            <a:avLst/>
          </a:prstGeom>
          <a:noFill/>
        </p:spPr>
        <p:txBody>
          <a:bodyPr wrap="square" lIns="0" tIns="0" rIns="0" bIns="0" anchor="t">
            <a:spAutoFit/>
          </a:bodyPr>
          <a:lstStyle/>
          <a:p>
            <a:r>
              <a:rPr sz="1600" b="1" i="0">
                <a:solidFill>
                  <a:srgbClr val="1E2761"/>
                </a:solidFill>
                <a:latin typeface="Cambria"/>
              </a:rPr>
              <a:t>Realistic?</a:t>
            </a:r>
          </a:p>
        </p:txBody>
      </p:sp>
      <p:sp>
        <p:nvSpPr>
          <p:cNvPr id="12" name="TextBox 11"/>
          <p:cNvSpPr txBox="1"/>
          <p:nvPr/>
        </p:nvSpPr>
        <p:spPr>
          <a:xfrm>
            <a:off x="548640" y="4069080"/>
            <a:ext cx="1737360" cy="594360"/>
          </a:xfrm>
          <a:prstGeom prst="rect">
            <a:avLst/>
          </a:prstGeom>
          <a:noFill/>
        </p:spPr>
        <p:txBody>
          <a:bodyPr wrap="square" lIns="0" tIns="0" rIns="0" bIns="0" anchor="t">
            <a:spAutoFit/>
          </a:bodyPr>
          <a:lstStyle/>
          <a:p>
            <a:pPr>
              <a:lnSpc>
                <a:spcPct val="100000"/>
              </a:lnSpc>
            </a:pPr>
            <a:r>
              <a:rPr sz="1200" b="0" i="0">
                <a:solidFill>
                  <a:srgbClr val="595959"/>
                </a:solidFill>
                <a:latin typeface="Calibri"/>
              </a:rPr>
              <a:t>Does it look like the real records?</a:t>
            </a:r>
          </a:p>
        </p:txBody>
      </p:sp>
      <p:sp>
        <p:nvSpPr>
          <p:cNvPr id="13" name="Rectangle 12"/>
          <p:cNvSpPr/>
          <p:nvPr/>
        </p:nvSpPr>
        <p:spPr>
          <a:xfrm>
            <a:off x="2441448" y="3639312"/>
            <a:ext cx="1737360" cy="4572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2441448" y="3730752"/>
            <a:ext cx="1737360" cy="320040"/>
          </a:xfrm>
          <a:prstGeom prst="rect">
            <a:avLst/>
          </a:prstGeom>
          <a:noFill/>
        </p:spPr>
        <p:txBody>
          <a:bodyPr wrap="square" lIns="0" tIns="0" rIns="0" bIns="0" anchor="t">
            <a:spAutoFit/>
          </a:bodyPr>
          <a:lstStyle/>
          <a:p>
            <a:r>
              <a:rPr sz="1600" b="1" i="0">
                <a:solidFill>
                  <a:srgbClr val="2A9D8F"/>
                </a:solidFill>
                <a:latin typeface="Cambria"/>
              </a:rPr>
              <a:t>Useful?</a:t>
            </a:r>
          </a:p>
        </p:txBody>
      </p:sp>
      <p:sp>
        <p:nvSpPr>
          <p:cNvPr id="15" name="TextBox 14"/>
          <p:cNvSpPr txBox="1"/>
          <p:nvPr/>
        </p:nvSpPr>
        <p:spPr>
          <a:xfrm>
            <a:off x="2441448" y="4069080"/>
            <a:ext cx="1737360" cy="594360"/>
          </a:xfrm>
          <a:prstGeom prst="rect">
            <a:avLst/>
          </a:prstGeom>
          <a:noFill/>
        </p:spPr>
        <p:txBody>
          <a:bodyPr wrap="square" lIns="0" tIns="0" rIns="0" bIns="0" anchor="t">
            <a:spAutoFit/>
          </a:bodyPr>
          <a:lstStyle/>
          <a:p>
            <a:pPr>
              <a:lnSpc>
                <a:spcPct val="100000"/>
              </a:lnSpc>
            </a:pPr>
            <a:r>
              <a:rPr sz="1200" b="0" i="0">
                <a:solidFill>
                  <a:srgbClr val="595959"/>
                </a:solidFill>
                <a:latin typeface="Calibri"/>
              </a:rPr>
              <a:t>Does a model trained on it work on real patients?</a:t>
            </a:r>
          </a:p>
        </p:txBody>
      </p:sp>
      <p:sp>
        <p:nvSpPr>
          <p:cNvPr id="16" name="Rectangle 15"/>
          <p:cNvSpPr/>
          <p:nvPr/>
        </p:nvSpPr>
        <p:spPr>
          <a:xfrm>
            <a:off x="4334255" y="3639312"/>
            <a:ext cx="1737360" cy="45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334255" y="3730752"/>
            <a:ext cx="1737360" cy="320040"/>
          </a:xfrm>
          <a:prstGeom prst="rect">
            <a:avLst/>
          </a:prstGeom>
          <a:noFill/>
        </p:spPr>
        <p:txBody>
          <a:bodyPr wrap="square" lIns="0" tIns="0" rIns="0" bIns="0" anchor="t">
            <a:spAutoFit/>
          </a:bodyPr>
          <a:lstStyle/>
          <a:p>
            <a:r>
              <a:rPr sz="1600" b="1" i="0">
                <a:solidFill>
                  <a:srgbClr val="C00000"/>
                </a:solidFill>
                <a:latin typeface="Cambria"/>
              </a:rPr>
              <a:t>Private?</a:t>
            </a:r>
          </a:p>
        </p:txBody>
      </p:sp>
      <p:sp>
        <p:nvSpPr>
          <p:cNvPr id="18" name="TextBox 17"/>
          <p:cNvSpPr txBox="1"/>
          <p:nvPr/>
        </p:nvSpPr>
        <p:spPr>
          <a:xfrm>
            <a:off x="4334255" y="4069080"/>
            <a:ext cx="1737360" cy="594360"/>
          </a:xfrm>
          <a:prstGeom prst="rect">
            <a:avLst/>
          </a:prstGeom>
          <a:noFill/>
        </p:spPr>
        <p:txBody>
          <a:bodyPr wrap="square" lIns="0" tIns="0" rIns="0" bIns="0" anchor="t">
            <a:spAutoFit/>
          </a:bodyPr>
          <a:lstStyle/>
          <a:p>
            <a:pPr>
              <a:lnSpc>
                <a:spcPct val="100000"/>
              </a:lnSpc>
            </a:pPr>
            <a:r>
              <a:rPr sz="1200" b="0" i="0">
                <a:solidFill>
                  <a:srgbClr val="595959"/>
                </a:solidFill>
                <a:latin typeface="Calibri"/>
              </a:rPr>
              <a:t>Can an attacker find who it learned from?</a:t>
            </a:r>
          </a:p>
        </p:txBody>
      </p:sp>
      <p:sp>
        <p:nvSpPr>
          <p:cNvPr id="19" name="TextBox 18"/>
          <p:cNvSpPr txBox="1"/>
          <p:nvPr/>
        </p:nvSpPr>
        <p:spPr>
          <a:xfrm>
            <a:off x="548640" y="4645152"/>
            <a:ext cx="5577840" cy="320040"/>
          </a:xfrm>
          <a:prstGeom prst="rect">
            <a:avLst/>
          </a:prstGeom>
          <a:noFill/>
        </p:spPr>
        <p:txBody>
          <a:bodyPr wrap="square" lIns="0" tIns="0" rIns="0" bIns="0" anchor="t">
            <a:spAutoFit/>
          </a:bodyPr>
          <a:lstStyle/>
          <a:p>
            <a:r>
              <a:rPr sz="1250" b="1" i="0">
                <a:solidFill>
                  <a:srgbClr val="C00000"/>
                </a:solidFill>
                <a:latin typeface="Calibri"/>
              </a:rPr>
              <a:t>The catch: </a:t>
            </a:r>
            <a:r>
              <a:rPr sz="1250" b="0" i="0">
                <a:solidFill>
                  <a:srgbClr val="1B1B1B"/>
                </a:solidFill>
                <a:latin typeface="Calibri"/>
              </a:rPr>
              <a:t>copying a real patient passes the first two tests and fails the third.</a:t>
            </a:r>
          </a:p>
        </p:txBody>
      </p:sp>
      <p:sp>
        <p:nvSpPr>
          <p:cNvPr id="20" name="Rectangle 19"/>
          <p:cNvSpPr/>
          <p:nvPr/>
        </p:nvSpPr>
        <p:spPr>
          <a:xfrm>
            <a:off x="6400800" y="1554480"/>
            <a:ext cx="5239512" cy="3383280"/>
          </a:xfrm>
          <a:prstGeom prst="rect">
            <a:avLst/>
          </a:prstGeom>
          <a:solidFill>
            <a:srgbClr val="F6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675120" y="1737360"/>
            <a:ext cx="4754880" cy="274320"/>
          </a:xfrm>
          <a:prstGeom prst="rect">
            <a:avLst/>
          </a:prstGeom>
          <a:noFill/>
        </p:spPr>
        <p:txBody>
          <a:bodyPr wrap="square" lIns="0" tIns="0" rIns="0" bIns="0" anchor="t">
            <a:spAutoFit/>
          </a:bodyPr>
          <a:lstStyle/>
          <a:p>
            <a:r>
              <a:rPr sz="1200" b="1" i="0" spc="200">
                <a:solidFill>
                  <a:srgbClr val="1E2761"/>
                </a:solidFill>
                <a:latin typeface="Calibri"/>
              </a:rPr>
              <a:t>WHAT A SYNTHETIC RECORD LOOKS LIKE</a:t>
            </a:r>
          </a:p>
        </p:txBody>
      </p:sp>
      <p:sp>
        <p:nvSpPr>
          <p:cNvPr id="22" name="TextBox 21"/>
          <p:cNvSpPr txBox="1"/>
          <p:nvPr/>
        </p:nvSpPr>
        <p:spPr>
          <a:xfrm>
            <a:off x="6675120" y="2121408"/>
            <a:ext cx="502920" cy="274320"/>
          </a:xfrm>
          <a:prstGeom prst="rect">
            <a:avLst/>
          </a:prstGeom>
          <a:noFill/>
        </p:spPr>
        <p:txBody>
          <a:bodyPr wrap="square" lIns="0" tIns="0" rIns="0" bIns="0" anchor="t">
            <a:spAutoFit/>
          </a:bodyPr>
          <a:lstStyle/>
          <a:p>
            <a:r>
              <a:rPr sz="1200" b="1" i="0">
                <a:solidFill>
                  <a:srgbClr val="595959"/>
                </a:solidFill>
                <a:latin typeface="Calibri"/>
              </a:rPr>
              <a:t>Age</a:t>
            </a:r>
          </a:p>
        </p:txBody>
      </p:sp>
      <p:sp>
        <p:nvSpPr>
          <p:cNvPr id="23" name="TextBox 22"/>
          <p:cNvSpPr txBox="1"/>
          <p:nvPr/>
        </p:nvSpPr>
        <p:spPr>
          <a:xfrm>
            <a:off x="7178040" y="2121408"/>
            <a:ext cx="457200" cy="274320"/>
          </a:xfrm>
          <a:prstGeom prst="rect">
            <a:avLst/>
          </a:prstGeom>
          <a:noFill/>
        </p:spPr>
        <p:txBody>
          <a:bodyPr wrap="square" lIns="0" tIns="0" rIns="0" bIns="0" anchor="t">
            <a:spAutoFit/>
          </a:bodyPr>
          <a:lstStyle/>
          <a:p>
            <a:r>
              <a:rPr sz="1200" b="1" i="0">
                <a:solidFill>
                  <a:srgbClr val="595959"/>
                </a:solidFill>
                <a:latin typeface="Calibri"/>
              </a:rPr>
              <a:t>Sex</a:t>
            </a:r>
          </a:p>
        </p:txBody>
      </p:sp>
      <p:sp>
        <p:nvSpPr>
          <p:cNvPr id="24" name="TextBox 23"/>
          <p:cNvSpPr txBox="1"/>
          <p:nvPr/>
        </p:nvSpPr>
        <p:spPr>
          <a:xfrm>
            <a:off x="7635240" y="2121408"/>
            <a:ext cx="868680" cy="274320"/>
          </a:xfrm>
          <a:prstGeom prst="rect">
            <a:avLst/>
          </a:prstGeom>
          <a:noFill/>
        </p:spPr>
        <p:txBody>
          <a:bodyPr wrap="square" lIns="0" tIns="0" rIns="0" bIns="0" anchor="t">
            <a:spAutoFit/>
          </a:bodyPr>
          <a:lstStyle/>
          <a:p>
            <a:r>
              <a:rPr sz="1200" b="1" i="0">
                <a:solidFill>
                  <a:srgbClr val="595959"/>
                </a:solidFill>
                <a:latin typeface="Calibri"/>
              </a:rPr>
              <a:t>Care unit</a:t>
            </a:r>
          </a:p>
        </p:txBody>
      </p:sp>
      <p:sp>
        <p:nvSpPr>
          <p:cNvPr id="25" name="TextBox 24"/>
          <p:cNvSpPr txBox="1"/>
          <p:nvPr/>
        </p:nvSpPr>
        <p:spPr>
          <a:xfrm>
            <a:off x="8503920" y="2121408"/>
            <a:ext cx="640080" cy="274320"/>
          </a:xfrm>
          <a:prstGeom prst="rect">
            <a:avLst/>
          </a:prstGeom>
          <a:noFill/>
        </p:spPr>
        <p:txBody>
          <a:bodyPr wrap="square" lIns="0" tIns="0" rIns="0" bIns="0" anchor="t">
            <a:spAutoFit/>
          </a:bodyPr>
          <a:lstStyle/>
          <a:p>
            <a:r>
              <a:rPr sz="1200" b="1" i="0">
                <a:solidFill>
                  <a:srgbClr val="595959"/>
                </a:solidFill>
                <a:latin typeface="Calibri"/>
              </a:rPr>
              <a:t>Stay</a:t>
            </a:r>
          </a:p>
        </p:txBody>
      </p:sp>
      <p:sp>
        <p:nvSpPr>
          <p:cNvPr id="26" name="TextBox 25"/>
          <p:cNvSpPr txBox="1"/>
          <p:nvPr/>
        </p:nvSpPr>
        <p:spPr>
          <a:xfrm>
            <a:off x="9144000" y="2121408"/>
            <a:ext cx="1691640" cy="274320"/>
          </a:xfrm>
          <a:prstGeom prst="rect">
            <a:avLst/>
          </a:prstGeom>
          <a:noFill/>
        </p:spPr>
        <p:txBody>
          <a:bodyPr wrap="square" lIns="0" tIns="0" rIns="0" bIns="0" anchor="t">
            <a:spAutoFit/>
          </a:bodyPr>
          <a:lstStyle/>
          <a:p>
            <a:r>
              <a:rPr sz="1200" b="1" i="0">
                <a:solidFill>
                  <a:srgbClr val="595959"/>
                </a:solidFill>
                <a:latin typeface="Calibri"/>
              </a:rPr>
              <a:t>Main diagnosis</a:t>
            </a:r>
          </a:p>
        </p:txBody>
      </p:sp>
      <p:sp>
        <p:nvSpPr>
          <p:cNvPr id="27" name="TextBox 26"/>
          <p:cNvSpPr txBox="1"/>
          <p:nvPr/>
        </p:nvSpPr>
        <p:spPr>
          <a:xfrm>
            <a:off x="10835640" y="2121408"/>
            <a:ext cx="548640" cy="274320"/>
          </a:xfrm>
          <a:prstGeom prst="rect">
            <a:avLst/>
          </a:prstGeom>
          <a:noFill/>
        </p:spPr>
        <p:txBody>
          <a:bodyPr wrap="square" lIns="0" tIns="0" rIns="0" bIns="0" anchor="t">
            <a:spAutoFit/>
          </a:bodyPr>
          <a:lstStyle/>
          <a:p>
            <a:r>
              <a:rPr sz="1200" b="1" i="0">
                <a:solidFill>
                  <a:srgbClr val="595959"/>
                </a:solidFill>
                <a:latin typeface="Calibri"/>
              </a:rPr>
              <a:t>Died</a:t>
            </a:r>
          </a:p>
        </p:txBody>
      </p:sp>
      <p:cxnSp>
        <p:nvCxnSpPr>
          <p:cNvPr id="28" name="Connector 27"/>
          <p:cNvCxnSpPr/>
          <p:nvPr/>
        </p:nvCxnSpPr>
        <p:spPr>
          <a:xfrm>
            <a:off x="6675120" y="2414016"/>
            <a:ext cx="470916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675120" y="2505456"/>
            <a:ext cx="457200" cy="365760"/>
          </a:xfrm>
          <a:prstGeom prst="rect">
            <a:avLst/>
          </a:prstGeom>
          <a:noFill/>
        </p:spPr>
        <p:txBody>
          <a:bodyPr wrap="square" lIns="0" tIns="0" rIns="0" bIns="0" anchor="t">
            <a:spAutoFit/>
          </a:bodyPr>
          <a:lstStyle/>
          <a:p>
            <a:r>
              <a:rPr sz="1300" b="0" i="0">
                <a:solidFill>
                  <a:srgbClr val="1B1B1B"/>
                </a:solidFill>
                <a:latin typeface="Calibri"/>
              </a:rPr>
              <a:t>85</a:t>
            </a:r>
          </a:p>
        </p:txBody>
      </p:sp>
      <p:sp>
        <p:nvSpPr>
          <p:cNvPr id="30" name="TextBox 29"/>
          <p:cNvSpPr txBox="1"/>
          <p:nvPr/>
        </p:nvSpPr>
        <p:spPr>
          <a:xfrm>
            <a:off x="7178040" y="2505456"/>
            <a:ext cx="411480" cy="365760"/>
          </a:xfrm>
          <a:prstGeom prst="rect">
            <a:avLst/>
          </a:prstGeom>
          <a:noFill/>
        </p:spPr>
        <p:txBody>
          <a:bodyPr wrap="square" lIns="0" tIns="0" rIns="0" bIns="0" anchor="t">
            <a:spAutoFit/>
          </a:bodyPr>
          <a:lstStyle/>
          <a:p>
            <a:r>
              <a:rPr sz="1300" b="0" i="0">
                <a:solidFill>
                  <a:srgbClr val="1B1B1B"/>
                </a:solidFill>
                <a:latin typeface="Calibri"/>
              </a:rPr>
              <a:t>F</a:t>
            </a:r>
          </a:p>
        </p:txBody>
      </p:sp>
      <p:sp>
        <p:nvSpPr>
          <p:cNvPr id="31" name="TextBox 30"/>
          <p:cNvSpPr txBox="1"/>
          <p:nvPr/>
        </p:nvSpPr>
        <p:spPr>
          <a:xfrm>
            <a:off x="7635240" y="2505456"/>
            <a:ext cx="822959" cy="365760"/>
          </a:xfrm>
          <a:prstGeom prst="rect">
            <a:avLst/>
          </a:prstGeom>
          <a:noFill/>
        </p:spPr>
        <p:txBody>
          <a:bodyPr wrap="square" lIns="0" tIns="0" rIns="0" bIns="0" anchor="t">
            <a:spAutoFit/>
          </a:bodyPr>
          <a:lstStyle/>
          <a:p>
            <a:r>
              <a:rPr sz="1300" b="0" i="0">
                <a:solidFill>
                  <a:srgbClr val="1B1B1B"/>
                </a:solidFill>
                <a:latin typeface="Calibri"/>
              </a:rPr>
              <a:t>MICU</a:t>
            </a:r>
          </a:p>
        </p:txBody>
      </p:sp>
      <p:sp>
        <p:nvSpPr>
          <p:cNvPr id="32" name="TextBox 31"/>
          <p:cNvSpPr txBox="1"/>
          <p:nvPr/>
        </p:nvSpPr>
        <p:spPr>
          <a:xfrm>
            <a:off x="8503920" y="2505456"/>
            <a:ext cx="594359" cy="365760"/>
          </a:xfrm>
          <a:prstGeom prst="rect">
            <a:avLst/>
          </a:prstGeom>
          <a:noFill/>
        </p:spPr>
        <p:txBody>
          <a:bodyPr wrap="square" lIns="0" tIns="0" rIns="0" bIns="0" anchor="t">
            <a:spAutoFit/>
          </a:bodyPr>
          <a:lstStyle/>
          <a:p>
            <a:r>
              <a:rPr sz="1300" b="0" i="0">
                <a:solidFill>
                  <a:srgbClr val="1B1B1B"/>
                </a:solidFill>
                <a:latin typeface="Calibri"/>
              </a:rPr>
              <a:t>21.8 d</a:t>
            </a:r>
          </a:p>
        </p:txBody>
      </p:sp>
      <p:sp>
        <p:nvSpPr>
          <p:cNvPr id="33" name="TextBox 32"/>
          <p:cNvSpPr txBox="1"/>
          <p:nvPr/>
        </p:nvSpPr>
        <p:spPr>
          <a:xfrm>
            <a:off x="9144000" y="2505456"/>
            <a:ext cx="1645920" cy="365760"/>
          </a:xfrm>
          <a:prstGeom prst="rect">
            <a:avLst/>
          </a:prstGeom>
          <a:noFill/>
        </p:spPr>
        <p:txBody>
          <a:bodyPr wrap="square" lIns="0" tIns="0" rIns="0" bIns="0" anchor="t">
            <a:spAutoFit/>
          </a:bodyPr>
          <a:lstStyle/>
          <a:p>
            <a:r>
              <a:rPr sz="1300" b="0" i="0">
                <a:solidFill>
                  <a:srgbClr val="1B1B1B"/>
                </a:solidFill>
                <a:latin typeface="Calibri"/>
              </a:rPr>
              <a:t>Volvulus of intestine</a:t>
            </a:r>
          </a:p>
        </p:txBody>
      </p:sp>
      <p:sp>
        <p:nvSpPr>
          <p:cNvPr id="34" name="TextBox 33"/>
          <p:cNvSpPr txBox="1"/>
          <p:nvPr/>
        </p:nvSpPr>
        <p:spPr>
          <a:xfrm>
            <a:off x="10835640" y="2505456"/>
            <a:ext cx="502919" cy="365760"/>
          </a:xfrm>
          <a:prstGeom prst="rect">
            <a:avLst/>
          </a:prstGeom>
          <a:noFill/>
        </p:spPr>
        <p:txBody>
          <a:bodyPr wrap="square" lIns="0" tIns="0" rIns="0" bIns="0" anchor="t">
            <a:spAutoFit/>
          </a:bodyPr>
          <a:lstStyle/>
          <a:p>
            <a:r>
              <a:rPr sz="1300" b="0" i="0">
                <a:solidFill>
                  <a:srgbClr val="1B1B1B"/>
                </a:solidFill>
                <a:latin typeface="Calibri"/>
              </a:rPr>
              <a:t>no</a:t>
            </a:r>
          </a:p>
        </p:txBody>
      </p:sp>
      <p:cxnSp>
        <p:nvCxnSpPr>
          <p:cNvPr id="35" name="Connector 34"/>
          <p:cNvCxnSpPr/>
          <p:nvPr/>
        </p:nvCxnSpPr>
        <p:spPr>
          <a:xfrm>
            <a:off x="6675120" y="2889504"/>
            <a:ext cx="4709160" cy="0"/>
          </a:xfrm>
          <a:prstGeom prst="line">
            <a:avLst/>
          </a:prstGeom>
          <a:ln w="9525">
            <a:solidFill>
              <a:srgbClr val="E3DFDC"/>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675120" y="2935224"/>
            <a:ext cx="457200" cy="365760"/>
          </a:xfrm>
          <a:prstGeom prst="rect">
            <a:avLst/>
          </a:prstGeom>
          <a:noFill/>
        </p:spPr>
        <p:txBody>
          <a:bodyPr wrap="square" lIns="0" tIns="0" rIns="0" bIns="0" anchor="t">
            <a:spAutoFit/>
          </a:bodyPr>
          <a:lstStyle/>
          <a:p>
            <a:r>
              <a:rPr sz="1300" b="0" i="0">
                <a:solidFill>
                  <a:srgbClr val="1B1B1B"/>
                </a:solidFill>
                <a:latin typeface="Calibri"/>
              </a:rPr>
              <a:t>62</a:t>
            </a:r>
          </a:p>
        </p:txBody>
      </p:sp>
      <p:sp>
        <p:nvSpPr>
          <p:cNvPr id="37" name="TextBox 36"/>
          <p:cNvSpPr txBox="1"/>
          <p:nvPr/>
        </p:nvSpPr>
        <p:spPr>
          <a:xfrm>
            <a:off x="7178040" y="2935224"/>
            <a:ext cx="411480" cy="365760"/>
          </a:xfrm>
          <a:prstGeom prst="rect">
            <a:avLst/>
          </a:prstGeom>
          <a:noFill/>
        </p:spPr>
        <p:txBody>
          <a:bodyPr wrap="square" lIns="0" tIns="0" rIns="0" bIns="0" anchor="t">
            <a:spAutoFit/>
          </a:bodyPr>
          <a:lstStyle/>
          <a:p>
            <a:r>
              <a:rPr sz="1300" b="0" i="0">
                <a:solidFill>
                  <a:srgbClr val="1B1B1B"/>
                </a:solidFill>
                <a:latin typeface="Calibri"/>
              </a:rPr>
              <a:t>F</a:t>
            </a:r>
          </a:p>
        </p:txBody>
      </p:sp>
      <p:sp>
        <p:nvSpPr>
          <p:cNvPr id="38" name="TextBox 37"/>
          <p:cNvSpPr txBox="1"/>
          <p:nvPr/>
        </p:nvSpPr>
        <p:spPr>
          <a:xfrm>
            <a:off x="7635240" y="2935224"/>
            <a:ext cx="822959" cy="365760"/>
          </a:xfrm>
          <a:prstGeom prst="rect">
            <a:avLst/>
          </a:prstGeom>
          <a:noFill/>
        </p:spPr>
        <p:txBody>
          <a:bodyPr wrap="square" lIns="0" tIns="0" rIns="0" bIns="0" anchor="t">
            <a:spAutoFit/>
          </a:bodyPr>
          <a:lstStyle/>
          <a:p>
            <a:r>
              <a:rPr sz="1300" b="0" i="0">
                <a:solidFill>
                  <a:srgbClr val="1B1B1B"/>
                </a:solidFill>
                <a:latin typeface="Calibri"/>
              </a:rPr>
              <a:t>SICU</a:t>
            </a:r>
          </a:p>
        </p:txBody>
      </p:sp>
      <p:sp>
        <p:nvSpPr>
          <p:cNvPr id="39" name="TextBox 38"/>
          <p:cNvSpPr txBox="1"/>
          <p:nvPr/>
        </p:nvSpPr>
        <p:spPr>
          <a:xfrm>
            <a:off x="8503920" y="2935224"/>
            <a:ext cx="594359" cy="365760"/>
          </a:xfrm>
          <a:prstGeom prst="rect">
            <a:avLst/>
          </a:prstGeom>
          <a:noFill/>
        </p:spPr>
        <p:txBody>
          <a:bodyPr wrap="square" lIns="0" tIns="0" rIns="0" bIns="0" anchor="t">
            <a:spAutoFit/>
          </a:bodyPr>
          <a:lstStyle/>
          <a:p>
            <a:r>
              <a:rPr sz="1300" b="0" i="0">
                <a:solidFill>
                  <a:srgbClr val="1B1B1B"/>
                </a:solidFill>
                <a:latin typeface="Calibri"/>
              </a:rPr>
              <a:t>4.7 d</a:t>
            </a:r>
          </a:p>
        </p:txBody>
      </p:sp>
      <p:sp>
        <p:nvSpPr>
          <p:cNvPr id="40" name="TextBox 39"/>
          <p:cNvSpPr txBox="1"/>
          <p:nvPr/>
        </p:nvSpPr>
        <p:spPr>
          <a:xfrm>
            <a:off x="9144000" y="2935224"/>
            <a:ext cx="1645920" cy="365760"/>
          </a:xfrm>
          <a:prstGeom prst="rect">
            <a:avLst/>
          </a:prstGeom>
          <a:noFill/>
        </p:spPr>
        <p:txBody>
          <a:bodyPr wrap="square" lIns="0" tIns="0" rIns="0" bIns="0" anchor="t">
            <a:spAutoFit/>
          </a:bodyPr>
          <a:lstStyle/>
          <a:p>
            <a:r>
              <a:rPr sz="1300" b="0" i="0">
                <a:solidFill>
                  <a:srgbClr val="1B1B1B"/>
                </a:solidFill>
                <a:latin typeface="Calibri"/>
              </a:rPr>
              <a:t>Pneumonia</a:t>
            </a:r>
          </a:p>
        </p:txBody>
      </p:sp>
      <p:sp>
        <p:nvSpPr>
          <p:cNvPr id="41" name="TextBox 40"/>
          <p:cNvSpPr txBox="1"/>
          <p:nvPr/>
        </p:nvSpPr>
        <p:spPr>
          <a:xfrm>
            <a:off x="10835640" y="2935224"/>
            <a:ext cx="502919" cy="365760"/>
          </a:xfrm>
          <a:prstGeom prst="rect">
            <a:avLst/>
          </a:prstGeom>
          <a:noFill/>
        </p:spPr>
        <p:txBody>
          <a:bodyPr wrap="square" lIns="0" tIns="0" rIns="0" bIns="0" anchor="t">
            <a:spAutoFit/>
          </a:bodyPr>
          <a:lstStyle/>
          <a:p>
            <a:r>
              <a:rPr sz="1300" b="0" i="0">
                <a:solidFill>
                  <a:srgbClr val="1B1B1B"/>
                </a:solidFill>
                <a:latin typeface="Calibri"/>
              </a:rPr>
              <a:t>no</a:t>
            </a:r>
          </a:p>
        </p:txBody>
      </p:sp>
      <p:cxnSp>
        <p:nvCxnSpPr>
          <p:cNvPr id="42" name="Connector 41"/>
          <p:cNvCxnSpPr/>
          <p:nvPr/>
        </p:nvCxnSpPr>
        <p:spPr>
          <a:xfrm>
            <a:off x="6675120" y="3319272"/>
            <a:ext cx="4709160" cy="0"/>
          </a:xfrm>
          <a:prstGeom prst="line">
            <a:avLst/>
          </a:prstGeom>
          <a:ln w="9525">
            <a:solidFill>
              <a:srgbClr val="E3DFDC"/>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675120" y="3364992"/>
            <a:ext cx="457200" cy="365760"/>
          </a:xfrm>
          <a:prstGeom prst="rect">
            <a:avLst/>
          </a:prstGeom>
          <a:noFill/>
        </p:spPr>
        <p:txBody>
          <a:bodyPr wrap="square" lIns="0" tIns="0" rIns="0" bIns="0" anchor="t">
            <a:spAutoFit/>
          </a:bodyPr>
          <a:lstStyle/>
          <a:p>
            <a:r>
              <a:rPr sz="1300" b="0" i="0">
                <a:solidFill>
                  <a:srgbClr val="1B1B1B"/>
                </a:solidFill>
                <a:latin typeface="Calibri"/>
              </a:rPr>
              <a:t>89</a:t>
            </a:r>
          </a:p>
        </p:txBody>
      </p:sp>
      <p:sp>
        <p:nvSpPr>
          <p:cNvPr id="44" name="TextBox 43"/>
          <p:cNvSpPr txBox="1"/>
          <p:nvPr/>
        </p:nvSpPr>
        <p:spPr>
          <a:xfrm>
            <a:off x="7178040" y="3364992"/>
            <a:ext cx="411480" cy="365760"/>
          </a:xfrm>
          <a:prstGeom prst="rect">
            <a:avLst/>
          </a:prstGeom>
          <a:noFill/>
        </p:spPr>
        <p:txBody>
          <a:bodyPr wrap="square" lIns="0" tIns="0" rIns="0" bIns="0" anchor="t">
            <a:spAutoFit/>
          </a:bodyPr>
          <a:lstStyle/>
          <a:p>
            <a:r>
              <a:rPr sz="1300" b="0" i="0">
                <a:solidFill>
                  <a:srgbClr val="1B1B1B"/>
                </a:solidFill>
                <a:latin typeface="Calibri"/>
              </a:rPr>
              <a:t>F</a:t>
            </a:r>
          </a:p>
        </p:txBody>
      </p:sp>
      <p:sp>
        <p:nvSpPr>
          <p:cNvPr id="45" name="TextBox 44"/>
          <p:cNvSpPr txBox="1"/>
          <p:nvPr/>
        </p:nvSpPr>
        <p:spPr>
          <a:xfrm>
            <a:off x="7635240" y="3364992"/>
            <a:ext cx="822959" cy="365760"/>
          </a:xfrm>
          <a:prstGeom prst="rect">
            <a:avLst/>
          </a:prstGeom>
          <a:noFill/>
        </p:spPr>
        <p:txBody>
          <a:bodyPr wrap="square" lIns="0" tIns="0" rIns="0" bIns="0" anchor="t">
            <a:spAutoFit/>
          </a:bodyPr>
          <a:lstStyle/>
          <a:p>
            <a:r>
              <a:rPr sz="1300" b="0" i="0">
                <a:solidFill>
                  <a:srgbClr val="1B1B1B"/>
                </a:solidFill>
                <a:latin typeface="Calibri"/>
              </a:rPr>
              <a:t>TSICU</a:t>
            </a:r>
          </a:p>
        </p:txBody>
      </p:sp>
      <p:sp>
        <p:nvSpPr>
          <p:cNvPr id="46" name="TextBox 45"/>
          <p:cNvSpPr txBox="1"/>
          <p:nvPr/>
        </p:nvSpPr>
        <p:spPr>
          <a:xfrm>
            <a:off x="8503920" y="3364992"/>
            <a:ext cx="594359" cy="365760"/>
          </a:xfrm>
          <a:prstGeom prst="rect">
            <a:avLst/>
          </a:prstGeom>
          <a:noFill/>
        </p:spPr>
        <p:txBody>
          <a:bodyPr wrap="square" lIns="0" tIns="0" rIns="0" bIns="0" anchor="t">
            <a:spAutoFit/>
          </a:bodyPr>
          <a:lstStyle/>
          <a:p>
            <a:r>
              <a:rPr sz="1300" b="0" i="0">
                <a:solidFill>
                  <a:srgbClr val="1B1B1B"/>
                </a:solidFill>
                <a:latin typeface="Calibri"/>
              </a:rPr>
              <a:t>4.8 d</a:t>
            </a:r>
          </a:p>
        </p:txBody>
      </p:sp>
      <p:sp>
        <p:nvSpPr>
          <p:cNvPr id="47" name="TextBox 46"/>
          <p:cNvSpPr txBox="1"/>
          <p:nvPr/>
        </p:nvSpPr>
        <p:spPr>
          <a:xfrm>
            <a:off x="9144000" y="3364992"/>
            <a:ext cx="1645920" cy="365760"/>
          </a:xfrm>
          <a:prstGeom prst="rect">
            <a:avLst/>
          </a:prstGeom>
          <a:noFill/>
        </p:spPr>
        <p:txBody>
          <a:bodyPr wrap="square" lIns="0" tIns="0" rIns="0" bIns="0" anchor="t">
            <a:spAutoFit/>
          </a:bodyPr>
          <a:lstStyle/>
          <a:p>
            <a:r>
              <a:rPr sz="1300" b="0" i="0">
                <a:solidFill>
                  <a:srgbClr val="1B1B1B"/>
                </a:solidFill>
                <a:latin typeface="Calibri"/>
              </a:rPr>
              <a:t>Septicemia</a:t>
            </a:r>
          </a:p>
        </p:txBody>
      </p:sp>
      <p:sp>
        <p:nvSpPr>
          <p:cNvPr id="48" name="TextBox 47"/>
          <p:cNvSpPr txBox="1"/>
          <p:nvPr/>
        </p:nvSpPr>
        <p:spPr>
          <a:xfrm>
            <a:off x="10835640" y="3364992"/>
            <a:ext cx="502919" cy="365760"/>
          </a:xfrm>
          <a:prstGeom prst="rect">
            <a:avLst/>
          </a:prstGeom>
          <a:noFill/>
        </p:spPr>
        <p:txBody>
          <a:bodyPr wrap="square" lIns="0" tIns="0" rIns="0" bIns="0" anchor="t">
            <a:spAutoFit/>
          </a:bodyPr>
          <a:lstStyle/>
          <a:p>
            <a:r>
              <a:rPr sz="1300" b="1" i="0">
                <a:solidFill>
                  <a:srgbClr val="C00000"/>
                </a:solidFill>
                <a:latin typeface="Calibri"/>
              </a:rPr>
              <a:t>yes</a:t>
            </a:r>
          </a:p>
        </p:txBody>
      </p:sp>
      <p:cxnSp>
        <p:nvCxnSpPr>
          <p:cNvPr id="49" name="Connector 48"/>
          <p:cNvCxnSpPr/>
          <p:nvPr/>
        </p:nvCxnSpPr>
        <p:spPr>
          <a:xfrm>
            <a:off x="6675120" y="3749040"/>
            <a:ext cx="4709160" cy="0"/>
          </a:xfrm>
          <a:prstGeom prst="line">
            <a:avLst/>
          </a:prstGeom>
          <a:ln w="9525">
            <a:solidFill>
              <a:srgbClr val="E3DFDC"/>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675120" y="3794760"/>
            <a:ext cx="457200" cy="365760"/>
          </a:xfrm>
          <a:prstGeom prst="rect">
            <a:avLst/>
          </a:prstGeom>
          <a:noFill/>
        </p:spPr>
        <p:txBody>
          <a:bodyPr wrap="square" lIns="0" tIns="0" rIns="0" bIns="0" anchor="t">
            <a:spAutoFit/>
          </a:bodyPr>
          <a:lstStyle/>
          <a:p>
            <a:r>
              <a:rPr sz="1300" b="0" i="0">
                <a:solidFill>
                  <a:srgbClr val="1B1B1B"/>
                </a:solidFill>
                <a:latin typeface="Calibri"/>
              </a:rPr>
              <a:t>66</a:t>
            </a:r>
          </a:p>
        </p:txBody>
      </p:sp>
      <p:sp>
        <p:nvSpPr>
          <p:cNvPr id="51" name="TextBox 50"/>
          <p:cNvSpPr txBox="1"/>
          <p:nvPr/>
        </p:nvSpPr>
        <p:spPr>
          <a:xfrm>
            <a:off x="7178040" y="3794760"/>
            <a:ext cx="411480" cy="365760"/>
          </a:xfrm>
          <a:prstGeom prst="rect">
            <a:avLst/>
          </a:prstGeom>
          <a:noFill/>
        </p:spPr>
        <p:txBody>
          <a:bodyPr wrap="square" lIns="0" tIns="0" rIns="0" bIns="0" anchor="t">
            <a:spAutoFit/>
          </a:bodyPr>
          <a:lstStyle/>
          <a:p>
            <a:r>
              <a:rPr sz="1300" b="0" i="0">
                <a:solidFill>
                  <a:srgbClr val="1B1B1B"/>
                </a:solidFill>
                <a:latin typeface="Calibri"/>
              </a:rPr>
              <a:t>M</a:t>
            </a:r>
          </a:p>
        </p:txBody>
      </p:sp>
      <p:sp>
        <p:nvSpPr>
          <p:cNvPr id="52" name="TextBox 51"/>
          <p:cNvSpPr txBox="1"/>
          <p:nvPr/>
        </p:nvSpPr>
        <p:spPr>
          <a:xfrm>
            <a:off x="7635240" y="3794760"/>
            <a:ext cx="822959" cy="365760"/>
          </a:xfrm>
          <a:prstGeom prst="rect">
            <a:avLst/>
          </a:prstGeom>
          <a:noFill/>
        </p:spPr>
        <p:txBody>
          <a:bodyPr wrap="square" lIns="0" tIns="0" rIns="0" bIns="0" anchor="t">
            <a:spAutoFit/>
          </a:bodyPr>
          <a:lstStyle/>
          <a:p>
            <a:r>
              <a:rPr sz="1300" b="0" i="0">
                <a:solidFill>
                  <a:srgbClr val="1B1B1B"/>
                </a:solidFill>
                <a:latin typeface="Calibri"/>
              </a:rPr>
              <a:t>TSICU</a:t>
            </a:r>
          </a:p>
        </p:txBody>
      </p:sp>
      <p:sp>
        <p:nvSpPr>
          <p:cNvPr id="53" name="TextBox 52"/>
          <p:cNvSpPr txBox="1"/>
          <p:nvPr/>
        </p:nvSpPr>
        <p:spPr>
          <a:xfrm>
            <a:off x="8503920" y="3794760"/>
            <a:ext cx="594359" cy="365760"/>
          </a:xfrm>
          <a:prstGeom prst="rect">
            <a:avLst/>
          </a:prstGeom>
          <a:noFill/>
        </p:spPr>
        <p:txBody>
          <a:bodyPr wrap="square" lIns="0" tIns="0" rIns="0" bIns="0" anchor="t">
            <a:spAutoFit/>
          </a:bodyPr>
          <a:lstStyle/>
          <a:p>
            <a:r>
              <a:rPr sz="1300" b="0" i="0">
                <a:solidFill>
                  <a:srgbClr val="1B1B1B"/>
                </a:solidFill>
                <a:latin typeface="Calibri"/>
              </a:rPr>
              <a:t>0.8 d</a:t>
            </a:r>
          </a:p>
        </p:txBody>
      </p:sp>
      <p:sp>
        <p:nvSpPr>
          <p:cNvPr id="54" name="TextBox 53"/>
          <p:cNvSpPr txBox="1"/>
          <p:nvPr/>
        </p:nvSpPr>
        <p:spPr>
          <a:xfrm>
            <a:off x="9144000" y="3794760"/>
            <a:ext cx="1645920" cy="365760"/>
          </a:xfrm>
          <a:prstGeom prst="rect">
            <a:avLst/>
          </a:prstGeom>
          <a:noFill/>
        </p:spPr>
        <p:txBody>
          <a:bodyPr wrap="square" lIns="0" tIns="0" rIns="0" bIns="0" anchor="t">
            <a:spAutoFit/>
          </a:bodyPr>
          <a:lstStyle/>
          <a:p>
            <a:r>
              <a:rPr sz="1300" b="0" i="0">
                <a:solidFill>
                  <a:srgbClr val="1B1B1B"/>
                </a:solidFill>
                <a:latin typeface="Calibri"/>
              </a:rPr>
              <a:t>Respiratory failure</a:t>
            </a:r>
          </a:p>
        </p:txBody>
      </p:sp>
      <p:sp>
        <p:nvSpPr>
          <p:cNvPr id="55" name="TextBox 54"/>
          <p:cNvSpPr txBox="1"/>
          <p:nvPr/>
        </p:nvSpPr>
        <p:spPr>
          <a:xfrm>
            <a:off x="10835640" y="3794760"/>
            <a:ext cx="502919" cy="365760"/>
          </a:xfrm>
          <a:prstGeom prst="rect">
            <a:avLst/>
          </a:prstGeom>
          <a:noFill/>
        </p:spPr>
        <p:txBody>
          <a:bodyPr wrap="square" lIns="0" tIns="0" rIns="0" bIns="0" anchor="t">
            <a:spAutoFit/>
          </a:bodyPr>
          <a:lstStyle/>
          <a:p>
            <a:r>
              <a:rPr sz="1300" b="1" i="0">
                <a:solidFill>
                  <a:srgbClr val="C00000"/>
                </a:solidFill>
                <a:latin typeface="Calibri"/>
              </a:rPr>
              <a:t>yes</a:t>
            </a:r>
          </a:p>
        </p:txBody>
      </p:sp>
      <p:cxnSp>
        <p:nvCxnSpPr>
          <p:cNvPr id="56" name="Connector 55"/>
          <p:cNvCxnSpPr/>
          <p:nvPr/>
        </p:nvCxnSpPr>
        <p:spPr>
          <a:xfrm>
            <a:off x="6675120" y="4178808"/>
            <a:ext cx="4709160" cy="0"/>
          </a:xfrm>
          <a:prstGeom prst="line">
            <a:avLst/>
          </a:prstGeom>
          <a:ln w="9525">
            <a:solidFill>
              <a:srgbClr val="E3DFDC"/>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675120" y="4279392"/>
            <a:ext cx="4754880" cy="594360"/>
          </a:xfrm>
          <a:prstGeom prst="rect">
            <a:avLst/>
          </a:prstGeom>
          <a:noFill/>
        </p:spPr>
        <p:txBody>
          <a:bodyPr wrap="square" lIns="0" tIns="0" rIns="0" bIns="0" anchor="t">
            <a:spAutoFit/>
          </a:bodyPr>
          <a:lstStyle/>
          <a:p>
            <a:pPr>
              <a:lnSpc>
                <a:spcPct val="103000"/>
              </a:lnSpc>
            </a:pPr>
            <a:r>
              <a:rPr sz="1200" b="1" i="0">
                <a:solidFill>
                  <a:srgbClr val="1B1B1B"/>
                </a:solidFill>
                <a:latin typeface="Calibri"/>
              </a:rPr>
              <a:t>None of these patients exists. </a:t>
            </a:r>
            <a:r>
              <a:rPr sz="1200" b="0" i="0">
                <a:solidFill>
                  <a:srgbClr val="595959"/>
                </a:solidFill>
                <a:latin typeface="Calibri"/>
              </a:rPr>
              <a:t>Generated by our tuned Gaussian copula from 94 real admissions; 6 of 56 columns shown.</a:t>
            </a:r>
          </a:p>
        </p:txBody>
      </p:sp>
      <p:sp>
        <p:nvSpPr>
          <p:cNvPr id="58" name="Rectangle 57"/>
          <p:cNvSpPr/>
          <p:nvPr/>
        </p:nvSpPr>
        <p:spPr>
          <a:xfrm>
            <a:off x="548640" y="5138928"/>
            <a:ext cx="11091672" cy="1143000"/>
          </a:xfrm>
          <a:prstGeom prst="rect">
            <a:avLst/>
          </a:prstGeom>
          <a:solidFill>
            <a:srgbClr val="EE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Rectangle 58"/>
          <p:cNvSpPr/>
          <p:nvPr/>
        </p:nvSpPr>
        <p:spPr>
          <a:xfrm>
            <a:off x="548640" y="5138928"/>
            <a:ext cx="64008"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822960" y="5266944"/>
            <a:ext cx="3657600" cy="274320"/>
          </a:xfrm>
          <a:prstGeom prst="rect">
            <a:avLst/>
          </a:prstGeom>
          <a:noFill/>
        </p:spPr>
        <p:txBody>
          <a:bodyPr wrap="square" lIns="0" tIns="0" rIns="0" bIns="0" anchor="t">
            <a:spAutoFit/>
          </a:bodyPr>
          <a:lstStyle/>
          <a:p>
            <a:r>
              <a:rPr sz="1200" b="1" i="0" spc="200">
                <a:solidFill>
                  <a:srgbClr val="1E2761"/>
                </a:solidFill>
                <a:latin typeface="Calibri"/>
              </a:rPr>
              <a:t>RESEARCH QUESTION</a:t>
            </a:r>
          </a:p>
        </p:txBody>
      </p:sp>
      <p:sp>
        <p:nvSpPr>
          <p:cNvPr id="61" name="TextBox 60"/>
          <p:cNvSpPr txBox="1"/>
          <p:nvPr/>
        </p:nvSpPr>
        <p:spPr>
          <a:xfrm>
            <a:off x="822960" y="5559552"/>
            <a:ext cx="6400800" cy="685800"/>
          </a:xfrm>
          <a:prstGeom prst="rect">
            <a:avLst/>
          </a:prstGeom>
          <a:noFill/>
        </p:spPr>
        <p:txBody>
          <a:bodyPr wrap="square" lIns="0" tIns="0" rIns="0" bIns="0" anchor="t">
            <a:spAutoFit/>
          </a:bodyPr>
          <a:lstStyle/>
          <a:p>
            <a:pPr>
              <a:lnSpc>
                <a:spcPct val="102000"/>
              </a:lnSpc>
            </a:pPr>
            <a:r>
              <a:rPr sz="1500" b="1" i="0">
                <a:solidFill>
                  <a:srgbClr val="1B1B1B"/>
                </a:solidFill>
                <a:latin typeface="Cambria"/>
              </a:rPr>
              <a:t>On one real ICU dataset, under one fixed protocol, which generator gives the best balance of realism, usefulness and privacy?</a:t>
            </a:r>
          </a:p>
        </p:txBody>
      </p:sp>
      <p:sp>
        <p:nvSpPr>
          <p:cNvPr id="62" name="TextBox 61"/>
          <p:cNvSpPr txBox="1"/>
          <p:nvPr/>
        </p:nvSpPr>
        <p:spPr>
          <a:xfrm>
            <a:off x="7589520" y="5285232"/>
            <a:ext cx="3840480" cy="914400"/>
          </a:xfrm>
          <a:prstGeom prst="rect">
            <a:avLst/>
          </a:prstGeom>
          <a:noFill/>
        </p:spPr>
        <p:txBody>
          <a:bodyPr wrap="square" lIns="0" tIns="0" rIns="0" bIns="0" anchor="ctr">
            <a:spAutoFit/>
          </a:bodyPr>
          <a:lstStyle/>
          <a:p>
            <a:pPr>
              <a:lnSpc>
                <a:spcPct val="104000"/>
              </a:lnSpc>
            </a:pPr>
            <a:r>
              <a:rPr sz="1200" b="0" i="0">
                <a:solidFill>
                  <a:srgbClr val="595959"/>
                </a:solidFill>
                <a:latin typeface="Calibri"/>
              </a:rPr>
              <a:t>Why a benchmark: published comparisons each use their own dataset, attacks and task, so their numbers cannot be compared [10, 11].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6739128"/>
            <a:ext cx="12191695" cy="11887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logo.jpg"/>
          <p:cNvPicPr>
            <a:picLocks noChangeAspect="1"/>
          </p:cNvPicPr>
          <p:nvPr/>
        </p:nvPicPr>
        <p:blipFill>
          <a:blip r:embed="rId3"/>
          <a:stretch>
            <a:fillRect/>
          </a:stretch>
        </p:blipFill>
        <p:spPr>
          <a:xfrm>
            <a:off x="0" y="256032"/>
            <a:ext cx="2377440" cy="1143000"/>
          </a:xfrm>
          <a:prstGeom prst="rect">
            <a:avLst/>
          </a:prstGeom>
        </p:spPr>
      </p:pic>
      <p:sp>
        <p:nvSpPr>
          <p:cNvPr id="5" name="TextBox 4"/>
          <p:cNvSpPr txBox="1"/>
          <p:nvPr/>
        </p:nvSpPr>
        <p:spPr>
          <a:xfrm>
            <a:off x="2651760" y="0"/>
            <a:ext cx="9235440" cy="758952"/>
          </a:xfrm>
          <a:prstGeom prst="rect">
            <a:avLst/>
          </a:prstGeom>
          <a:noFill/>
        </p:spPr>
        <p:txBody>
          <a:bodyPr wrap="square" lIns="0" tIns="0" rIns="0" bIns="0" anchor="ctr">
            <a:spAutoFit/>
          </a:bodyPr>
          <a:lstStyle/>
          <a:p>
            <a:r>
              <a:rPr sz="2600" b="1" i="0">
                <a:solidFill>
                  <a:srgbClr val="FFFFFF"/>
                </a:solidFill>
                <a:latin typeface="Cambria"/>
              </a:rPr>
              <a:t>Approach: fix everything except the generator</a:t>
            </a:r>
          </a:p>
        </p:txBody>
      </p:sp>
      <p:sp>
        <p:nvSpPr>
          <p:cNvPr id="6" name="TextBox 5"/>
          <p:cNvSpPr txBox="1"/>
          <p:nvPr/>
        </p:nvSpPr>
        <p:spPr>
          <a:xfrm>
            <a:off x="548640" y="6419088"/>
            <a:ext cx="7315200" cy="256032"/>
          </a:xfrm>
          <a:prstGeom prst="rect">
            <a:avLst/>
          </a:prstGeom>
          <a:noFill/>
        </p:spPr>
        <p:txBody>
          <a:bodyPr wrap="square" lIns="0" tIns="0" rIns="0" bIns="0" anchor="ctr">
            <a:spAutoFit/>
          </a:bodyPr>
          <a:lstStyle/>
          <a:p>
            <a:r>
              <a:rPr sz="1100" b="0" i="0">
                <a:solidFill>
                  <a:srgbClr val="595959"/>
                </a:solidFill>
                <a:latin typeface="Calibri"/>
              </a:rPr>
              <a:t>Project Doppel</a:t>
            </a:r>
            <a:r>
              <a:rPr sz="1100" b="0" i="0">
                <a:solidFill>
                  <a:srgbClr val="1B1B1B"/>
                </a:solidFill>
                <a:latin typeface="Calibri"/>
              </a:rPr>
              <a:t>     </a:t>
            </a:r>
            <a:r>
              <a:rPr sz="1100" b="0" i="0">
                <a:solidFill>
                  <a:srgbClr val="A6A6A6"/>
                </a:solidFill>
                <a:latin typeface="Calibri"/>
              </a:rPr>
              <a:t>Problem</a:t>
            </a:r>
            <a:r>
              <a:rPr sz="1100" b="0" i="0">
                <a:solidFill>
                  <a:srgbClr val="BFBFBF"/>
                </a:solidFill>
                <a:latin typeface="Calibri"/>
              </a:rPr>
              <a:t>  ·  </a:t>
            </a:r>
            <a:r>
              <a:rPr sz="1100" b="1" i="0">
                <a:solidFill>
                  <a:srgbClr val="C00000"/>
                </a:solidFill>
                <a:latin typeface="Calibri"/>
              </a:rPr>
              <a:t>Method</a:t>
            </a:r>
            <a:r>
              <a:rPr sz="1100" b="0" i="0">
                <a:solidFill>
                  <a:srgbClr val="BFBFBF"/>
                </a:solidFill>
                <a:latin typeface="Calibri"/>
              </a:rPr>
              <a:t>  ·  </a:t>
            </a:r>
            <a:r>
              <a:rPr sz="1100" b="0" i="0">
                <a:solidFill>
                  <a:srgbClr val="A6A6A6"/>
                </a:solidFill>
                <a:latin typeface="Calibri"/>
              </a:rPr>
              <a:t>Results</a:t>
            </a:r>
            <a:r>
              <a:rPr sz="1100" b="0" i="0">
                <a:solidFill>
                  <a:srgbClr val="BFBFBF"/>
                </a:solidFill>
                <a:latin typeface="Calibri"/>
              </a:rPr>
              <a:t>  ·  </a:t>
            </a:r>
            <a:r>
              <a:rPr sz="1100" b="0" i="0">
                <a:solidFill>
                  <a:srgbClr val="A6A6A6"/>
                </a:solidFill>
                <a:latin typeface="Calibri"/>
              </a:rPr>
              <a:t>Close</a:t>
            </a:r>
          </a:p>
        </p:txBody>
      </p:sp>
      <p:sp>
        <p:nvSpPr>
          <p:cNvPr id="7" name="TextBox 6"/>
          <p:cNvSpPr txBox="1"/>
          <p:nvPr/>
        </p:nvSpPr>
        <p:spPr>
          <a:xfrm>
            <a:off x="10881360" y="6419088"/>
            <a:ext cx="758952" cy="256032"/>
          </a:xfrm>
          <a:prstGeom prst="rect">
            <a:avLst/>
          </a:prstGeom>
          <a:noFill/>
        </p:spPr>
        <p:txBody>
          <a:bodyPr wrap="square" lIns="0" tIns="0" rIns="0" bIns="0" anchor="ctr">
            <a:spAutoFit/>
          </a:bodyPr>
          <a:lstStyle/>
          <a:p>
            <a:pPr algn="r"/>
            <a:r>
              <a:rPr sz="1100" b="0" i="0">
                <a:solidFill>
                  <a:srgbClr val="595959"/>
                </a:solidFill>
                <a:latin typeface="Calibri"/>
              </a:rPr>
              <a:t>3 / 10</a:t>
            </a:r>
          </a:p>
        </p:txBody>
      </p:sp>
      <p:sp>
        <p:nvSpPr>
          <p:cNvPr id="8" name="Rectangle 7"/>
          <p:cNvSpPr/>
          <p:nvPr/>
        </p:nvSpPr>
        <p:spPr>
          <a:xfrm>
            <a:off x="548640" y="1554480"/>
            <a:ext cx="2578608" cy="987552"/>
          </a:xfrm>
          <a:prstGeom prst="rect">
            <a:avLst/>
          </a:prstGeom>
          <a:solidFill>
            <a:srgbClr val="FFFFFF"/>
          </a:solidFill>
          <a:ln w="12700">
            <a:solidFill>
              <a:srgbClr val="C9CC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548640" y="1554480"/>
            <a:ext cx="2578608" cy="457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13232" y="1682496"/>
            <a:ext cx="2286000" cy="347472"/>
          </a:xfrm>
          <a:prstGeom prst="rect">
            <a:avLst/>
          </a:prstGeom>
          <a:noFill/>
        </p:spPr>
        <p:txBody>
          <a:bodyPr wrap="square" lIns="0" tIns="0" rIns="0" bIns="0" anchor="ctr">
            <a:spAutoFit/>
          </a:bodyPr>
          <a:lstStyle/>
          <a:p>
            <a:r>
              <a:rPr sz="1200" b="1" i="0">
                <a:solidFill>
                  <a:srgbClr val="1E2761"/>
                </a:solidFill>
                <a:latin typeface="Calibri"/>
              </a:rPr>
              <a:t>1  </a:t>
            </a:r>
            <a:r>
              <a:rPr sz="1700" b="1" i="0">
                <a:solidFill>
                  <a:srgbClr val="1B1B1B"/>
                </a:solidFill>
                <a:latin typeface="Cambria"/>
              </a:rPr>
              <a:t>Prepare</a:t>
            </a:r>
            <a:r>
              <a:rPr sz="1050" b="1" i="0" spc="120">
                <a:solidFill>
                  <a:srgbClr val="595959"/>
                </a:solidFill>
                <a:latin typeface="Calibri"/>
              </a:rPr>
              <a:t>   TRACK 3</a:t>
            </a:r>
          </a:p>
        </p:txBody>
      </p:sp>
      <p:sp>
        <p:nvSpPr>
          <p:cNvPr id="11" name="TextBox 10"/>
          <p:cNvSpPr txBox="1"/>
          <p:nvPr/>
        </p:nvSpPr>
        <p:spPr>
          <a:xfrm>
            <a:off x="713232" y="2103120"/>
            <a:ext cx="2331720" cy="365760"/>
          </a:xfrm>
          <a:prstGeom prst="rect">
            <a:avLst/>
          </a:prstGeom>
          <a:noFill/>
        </p:spPr>
        <p:txBody>
          <a:bodyPr wrap="square" lIns="0" tIns="0" rIns="0" bIns="0" anchor="t">
            <a:spAutoFit/>
          </a:bodyPr>
          <a:lstStyle/>
          <a:p>
            <a:r>
              <a:rPr sz="1200" b="0" i="0">
                <a:solidFill>
                  <a:srgbClr val="595959"/>
                </a:solidFill>
                <a:latin typeface="Calibri"/>
              </a:rPr>
              <a:t>7 raw tables, one clean row per admission</a:t>
            </a:r>
          </a:p>
        </p:txBody>
      </p:sp>
      <p:cxnSp>
        <p:nvCxnSpPr>
          <p:cNvPr id="12" name="Connector 11"/>
          <p:cNvCxnSpPr/>
          <p:nvPr/>
        </p:nvCxnSpPr>
        <p:spPr>
          <a:xfrm>
            <a:off x="3154680" y="2048256"/>
            <a:ext cx="201168" cy="0"/>
          </a:xfrm>
          <a:prstGeom prst="line">
            <a:avLst/>
          </a:prstGeom>
          <a:ln w="1905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383280" y="1554480"/>
            <a:ext cx="2578608" cy="987552"/>
          </a:xfrm>
          <a:prstGeom prst="rect">
            <a:avLst/>
          </a:prstGeom>
          <a:solidFill>
            <a:srgbClr val="FFFFFF"/>
          </a:solidFill>
          <a:ln w="12700">
            <a:solidFill>
              <a:srgbClr val="C9CC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3383280" y="1554480"/>
            <a:ext cx="2578608" cy="457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547872" y="1682496"/>
            <a:ext cx="2286000" cy="347472"/>
          </a:xfrm>
          <a:prstGeom prst="rect">
            <a:avLst/>
          </a:prstGeom>
          <a:noFill/>
        </p:spPr>
        <p:txBody>
          <a:bodyPr wrap="square" lIns="0" tIns="0" rIns="0" bIns="0" anchor="ctr">
            <a:spAutoFit/>
          </a:bodyPr>
          <a:lstStyle/>
          <a:p>
            <a:r>
              <a:rPr sz="1200" b="1" i="0">
                <a:solidFill>
                  <a:srgbClr val="1E2761"/>
                </a:solidFill>
                <a:latin typeface="Calibri"/>
              </a:rPr>
              <a:t>2  </a:t>
            </a:r>
            <a:r>
              <a:rPr sz="1700" b="1" i="0">
                <a:solidFill>
                  <a:srgbClr val="1B1B1B"/>
                </a:solidFill>
                <a:latin typeface="Cambria"/>
              </a:rPr>
              <a:t>Generate</a:t>
            </a:r>
            <a:r>
              <a:rPr sz="1050" b="1" i="0" spc="120">
                <a:solidFill>
                  <a:srgbClr val="595959"/>
                </a:solidFill>
                <a:latin typeface="Calibri"/>
              </a:rPr>
              <a:t>   TRACK 1</a:t>
            </a:r>
          </a:p>
        </p:txBody>
      </p:sp>
      <p:sp>
        <p:nvSpPr>
          <p:cNvPr id="16" name="TextBox 15"/>
          <p:cNvSpPr txBox="1"/>
          <p:nvPr/>
        </p:nvSpPr>
        <p:spPr>
          <a:xfrm>
            <a:off x="3547872" y="2103120"/>
            <a:ext cx="2331720" cy="365760"/>
          </a:xfrm>
          <a:prstGeom prst="rect">
            <a:avLst/>
          </a:prstGeom>
          <a:noFill/>
        </p:spPr>
        <p:txBody>
          <a:bodyPr wrap="square" lIns="0" tIns="0" rIns="0" bIns="0" anchor="t">
            <a:spAutoFit/>
          </a:bodyPr>
          <a:lstStyle/>
          <a:p>
            <a:r>
              <a:rPr sz="1200" b="0" i="0">
                <a:solidFill>
                  <a:srgbClr val="595959"/>
                </a:solidFill>
                <a:latin typeface="Calibri"/>
              </a:rPr>
              <a:t>9 settings × 20 seeds = 180 tables</a:t>
            </a:r>
          </a:p>
        </p:txBody>
      </p:sp>
      <p:cxnSp>
        <p:nvCxnSpPr>
          <p:cNvPr id="17" name="Connector 16"/>
          <p:cNvCxnSpPr/>
          <p:nvPr/>
        </p:nvCxnSpPr>
        <p:spPr>
          <a:xfrm>
            <a:off x="5989320" y="2048256"/>
            <a:ext cx="201168" cy="0"/>
          </a:xfrm>
          <a:prstGeom prst="line">
            <a:avLst/>
          </a:prstGeom>
          <a:ln w="1905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217920" y="1554480"/>
            <a:ext cx="2578608" cy="987552"/>
          </a:xfrm>
          <a:prstGeom prst="rect">
            <a:avLst/>
          </a:prstGeom>
          <a:solidFill>
            <a:srgbClr val="FFFFFF"/>
          </a:solidFill>
          <a:ln w="12700">
            <a:solidFill>
              <a:srgbClr val="C9CC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6217920" y="1554480"/>
            <a:ext cx="2578608" cy="45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382512" y="1682496"/>
            <a:ext cx="2286000" cy="347472"/>
          </a:xfrm>
          <a:prstGeom prst="rect">
            <a:avLst/>
          </a:prstGeom>
          <a:noFill/>
        </p:spPr>
        <p:txBody>
          <a:bodyPr wrap="square" lIns="0" tIns="0" rIns="0" bIns="0" anchor="ctr">
            <a:spAutoFit/>
          </a:bodyPr>
          <a:lstStyle/>
          <a:p>
            <a:r>
              <a:rPr sz="1200" b="1" i="0">
                <a:solidFill>
                  <a:srgbClr val="C00000"/>
                </a:solidFill>
                <a:latin typeface="Calibri"/>
              </a:rPr>
              <a:t>3  </a:t>
            </a:r>
            <a:r>
              <a:rPr sz="1700" b="1" i="0">
                <a:solidFill>
                  <a:srgbClr val="1B1B1B"/>
                </a:solidFill>
                <a:latin typeface="Cambria"/>
              </a:rPr>
              <a:t>Evaluate</a:t>
            </a:r>
            <a:r>
              <a:rPr sz="1050" b="1" i="0" spc="120">
                <a:solidFill>
                  <a:srgbClr val="595959"/>
                </a:solidFill>
                <a:latin typeface="Calibri"/>
              </a:rPr>
              <a:t>   TRACK 2</a:t>
            </a:r>
          </a:p>
        </p:txBody>
      </p:sp>
      <p:sp>
        <p:nvSpPr>
          <p:cNvPr id="21" name="TextBox 20"/>
          <p:cNvSpPr txBox="1"/>
          <p:nvPr/>
        </p:nvSpPr>
        <p:spPr>
          <a:xfrm>
            <a:off x="6382512" y="2103120"/>
            <a:ext cx="2331720" cy="365760"/>
          </a:xfrm>
          <a:prstGeom prst="rect">
            <a:avLst/>
          </a:prstGeom>
          <a:noFill/>
        </p:spPr>
        <p:txBody>
          <a:bodyPr wrap="square" lIns="0" tIns="0" rIns="0" bIns="0" anchor="t">
            <a:spAutoFit/>
          </a:bodyPr>
          <a:lstStyle/>
          <a:p>
            <a:r>
              <a:rPr sz="1200" b="0" i="0">
                <a:solidFill>
                  <a:srgbClr val="595959"/>
                </a:solidFill>
                <a:latin typeface="Calibri"/>
              </a:rPr>
              <a:t>fidelity, utility, three privacy attacks</a:t>
            </a:r>
          </a:p>
        </p:txBody>
      </p:sp>
      <p:cxnSp>
        <p:nvCxnSpPr>
          <p:cNvPr id="22" name="Connector 21"/>
          <p:cNvCxnSpPr/>
          <p:nvPr/>
        </p:nvCxnSpPr>
        <p:spPr>
          <a:xfrm>
            <a:off x="8823960" y="2048256"/>
            <a:ext cx="201168" cy="0"/>
          </a:xfrm>
          <a:prstGeom prst="line">
            <a:avLst/>
          </a:prstGeom>
          <a:ln w="1905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9052560" y="1554480"/>
            <a:ext cx="2578608" cy="987552"/>
          </a:xfrm>
          <a:prstGeom prst="rect">
            <a:avLst/>
          </a:prstGeom>
          <a:solidFill>
            <a:srgbClr val="FFFFFF"/>
          </a:solidFill>
          <a:ln w="12700">
            <a:solidFill>
              <a:srgbClr val="C9CC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9052560" y="1554480"/>
            <a:ext cx="2578608" cy="457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9217152" y="1682496"/>
            <a:ext cx="2286000" cy="347472"/>
          </a:xfrm>
          <a:prstGeom prst="rect">
            <a:avLst/>
          </a:prstGeom>
          <a:noFill/>
        </p:spPr>
        <p:txBody>
          <a:bodyPr wrap="square" lIns="0" tIns="0" rIns="0" bIns="0" anchor="ctr">
            <a:spAutoFit/>
          </a:bodyPr>
          <a:lstStyle/>
          <a:p>
            <a:r>
              <a:rPr sz="1200" b="1" i="0">
                <a:solidFill>
                  <a:srgbClr val="1E2761"/>
                </a:solidFill>
                <a:latin typeface="Calibri"/>
              </a:rPr>
              <a:t>4  </a:t>
            </a:r>
            <a:r>
              <a:rPr sz="1700" b="1" i="0">
                <a:solidFill>
                  <a:srgbClr val="1B1B1B"/>
                </a:solidFill>
                <a:latin typeface="Cambria"/>
              </a:rPr>
              <a:t>Deliver</a:t>
            </a:r>
            <a:r>
              <a:rPr sz="1050" b="1" i="0" spc="120">
                <a:solidFill>
                  <a:srgbClr val="595959"/>
                </a:solidFill>
                <a:latin typeface="Calibri"/>
              </a:rPr>
              <a:t>   TRACK 4</a:t>
            </a:r>
          </a:p>
        </p:txBody>
      </p:sp>
      <p:sp>
        <p:nvSpPr>
          <p:cNvPr id="26" name="TextBox 25"/>
          <p:cNvSpPr txBox="1"/>
          <p:nvPr/>
        </p:nvSpPr>
        <p:spPr>
          <a:xfrm>
            <a:off x="9217152" y="2103120"/>
            <a:ext cx="2331720" cy="365760"/>
          </a:xfrm>
          <a:prstGeom prst="rect">
            <a:avLst/>
          </a:prstGeom>
          <a:noFill/>
        </p:spPr>
        <p:txBody>
          <a:bodyPr wrap="square" lIns="0" tIns="0" rIns="0" bIns="0" anchor="t">
            <a:spAutoFit/>
          </a:bodyPr>
          <a:lstStyle/>
          <a:p>
            <a:r>
              <a:rPr sz="1200" b="0" i="0">
                <a:solidFill>
                  <a:srgbClr val="595959"/>
                </a:solidFill>
                <a:latin typeface="Calibri"/>
              </a:rPr>
              <a:t>Docker, Kubernetes Jobs, dashboard</a:t>
            </a:r>
          </a:p>
        </p:txBody>
      </p:sp>
      <p:sp>
        <p:nvSpPr>
          <p:cNvPr id="27" name="TextBox 26"/>
          <p:cNvSpPr txBox="1"/>
          <p:nvPr/>
        </p:nvSpPr>
        <p:spPr>
          <a:xfrm>
            <a:off x="548640" y="2697480"/>
            <a:ext cx="11064240" cy="292608"/>
          </a:xfrm>
          <a:prstGeom prst="rect">
            <a:avLst/>
          </a:prstGeom>
          <a:noFill/>
        </p:spPr>
        <p:txBody>
          <a:bodyPr wrap="square" lIns="0" tIns="0" rIns="0" bIns="0" anchor="t">
            <a:spAutoFit/>
          </a:bodyPr>
          <a:lstStyle/>
          <a:p>
            <a:r>
              <a:rPr sz="1300" b="1" i="0">
                <a:solidFill>
                  <a:srgbClr val="1B1B1B"/>
                </a:solidFill>
                <a:latin typeface="Calibri"/>
              </a:rPr>
              <a:t>Held fixed: </a:t>
            </a:r>
            <a:r>
              <a:rPr sz="1300" b="0" i="0">
                <a:solidFill>
                  <a:srgbClr val="595959"/>
                </a:solidFill>
                <a:latin typeface="Calibri"/>
              </a:rPr>
              <a:t>dataset and patient split  ·  metrics  ·  attacks  ·  20 seeds (42–61)  ·  Docker image        </a:t>
            </a:r>
            <a:r>
              <a:rPr sz="1300" b="1" i="0">
                <a:solidFill>
                  <a:srgbClr val="C00000"/>
                </a:solidFill>
                <a:latin typeface="Calibri"/>
              </a:rPr>
              <a:t>Varied: </a:t>
            </a:r>
            <a:r>
              <a:rPr sz="1300" b="0" i="0">
                <a:solidFill>
                  <a:srgbClr val="1B1B1B"/>
                </a:solidFill>
                <a:latin typeface="Calibri"/>
              </a:rPr>
              <a:t>the generator</a:t>
            </a:r>
          </a:p>
        </p:txBody>
      </p:sp>
      <p:cxnSp>
        <p:nvCxnSpPr>
          <p:cNvPr id="28" name="Connector 27"/>
          <p:cNvCxnSpPr/>
          <p:nvPr/>
        </p:nvCxnSpPr>
        <p:spPr>
          <a:xfrm>
            <a:off x="548640" y="3127248"/>
            <a:ext cx="1109167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3246120"/>
            <a:ext cx="5852160" cy="274320"/>
          </a:xfrm>
          <a:prstGeom prst="rect">
            <a:avLst/>
          </a:prstGeom>
          <a:noFill/>
        </p:spPr>
        <p:txBody>
          <a:bodyPr wrap="square" lIns="0" tIns="0" rIns="0" bIns="0" anchor="t">
            <a:spAutoFit/>
          </a:bodyPr>
          <a:lstStyle/>
          <a:p>
            <a:r>
              <a:rPr sz="1200" b="1" i="0" spc="200">
                <a:solidFill>
                  <a:srgbClr val="C00000"/>
                </a:solidFill>
                <a:latin typeface="Calibri"/>
              </a:rPr>
              <a:t>129 REAL ICU ADMISSIONS, MIMIC-III DEMO [2]</a:t>
            </a:r>
          </a:p>
        </p:txBody>
      </p:sp>
      <p:sp>
        <p:nvSpPr>
          <p:cNvPr id="30" name="TextBox 29"/>
          <p:cNvSpPr txBox="1"/>
          <p:nvPr/>
        </p:nvSpPr>
        <p:spPr>
          <a:xfrm>
            <a:off x="548640" y="3566160"/>
            <a:ext cx="2926080" cy="457200"/>
          </a:xfrm>
          <a:prstGeom prst="rect">
            <a:avLst/>
          </a:prstGeom>
          <a:noFill/>
        </p:spPr>
        <p:txBody>
          <a:bodyPr wrap="square" lIns="0" tIns="0" rIns="0" bIns="0" anchor="t">
            <a:spAutoFit/>
          </a:bodyPr>
          <a:lstStyle/>
          <a:p>
            <a:pPr>
              <a:lnSpc>
                <a:spcPct val="100000"/>
              </a:lnSpc>
            </a:pPr>
            <a:r>
              <a:rPr sz="1250" b="1" i="0">
                <a:solidFill>
                  <a:srgbClr val="1E2761"/>
                </a:solidFill>
                <a:latin typeface="Calibri"/>
              </a:rPr>
              <a:t>Training: 94</a:t>
            </a:r>
          </a:p>
          <a:p>
            <a:pPr>
              <a:lnSpc>
                <a:spcPct val="100000"/>
              </a:lnSpc>
            </a:pPr>
            <a:r>
              <a:rPr sz="1250" b="0" i="0">
                <a:solidFill>
                  <a:srgbClr val="595959"/>
                </a:solidFill>
                <a:latin typeface="Calibri"/>
              </a:rPr>
              <a:t>80 patients, 34 deaths (36%)</a:t>
            </a:r>
          </a:p>
        </p:txBody>
      </p:sp>
      <p:sp>
        <p:nvSpPr>
          <p:cNvPr id="31" name="Rectangle 30"/>
          <p:cNvSpPr/>
          <p:nvPr/>
        </p:nvSpPr>
        <p:spPr>
          <a:xfrm>
            <a:off x="548640" y="40690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777240" y="40690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1005840" y="40690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1234440" y="40690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ectangle 34"/>
          <p:cNvSpPr/>
          <p:nvPr/>
        </p:nvSpPr>
        <p:spPr>
          <a:xfrm>
            <a:off x="1463040" y="40690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ectangle 35"/>
          <p:cNvSpPr/>
          <p:nvPr/>
        </p:nvSpPr>
        <p:spPr>
          <a:xfrm>
            <a:off x="1691640" y="40690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1920240" y="40690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ectangle 37"/>
          <p:cNvSpPr/>
          <p:nvPr/>
        </p:nvSpPr>
        <p:spPr>
          <a:xfrm>
            <a:off x="2148840" y="40690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ectangle 38"/>
          <p:cNvSpPr/>
          <p:nvPr/>
        </p:nvSpPr>
        <p:spPr>
          <a:xfrm>
            <a:off x="2377440" y="40690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Rectangle 39"/>
          <p:cNvSpPr/>
          <p:nvPr/>
        </p:nvSpPr>
        <p:spPr>
          <a:xfrm>
            <a:off x="2606040" y="40690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Rectangle 40"/>
          <p:cNvSpPr/>
          <p:nvPr/>
        </p:nvSpPr>
        <p:spPr>
          <a:xfrm>
            <a:off x="2834640" y="40690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Rectangle 41"/>
          <p:cNvSpPr/>
          <p:nvPr/>
        </p:nvSpPr>
        <p:spPr>
          <a:xfrm>
            <a:off x="3063240" y="40690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Rectangle 42"/>
          <p:cNvSpPr/>
          <p:nvPr/>
        </p:nvSpPr>
        <p:spPr>
          <a:xfrm>
            <a:off x="548640" y="42976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Rectangle 43"/>
          <p:cNvSpPr/>
          <p:nvPr/>
        </p:nvSpPr>
        <p:spPr>
          <a:xfrm>
            <a:off x="777240" y="42976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ectangle 44"/>
          <p:cNvSpPr/>
          <p:nvPr/>
        </p:nvSpPr>
        <p:spPr>
          <a:xfrm>
            <a:off x="1005840" y="42976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ectangle 45"/>
          <p:cNvSpPr/>
          <p:nvPr/>
        </p:nvSpPr>
        <p:spPr>
          <a:xfrm>
            <a:off x="1234440" y="42976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ectangle 46"/>
          <p:cNvSpPr/>
          <p:nvPr/>
        </p:nvSpPr>
        <p:spPr>
          <a:xfrm>
            <a:off x="1463040" y="42976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Rectangle 47"/>
          <p:cNvSpPr/>
          <p:nvPr/>
        </p:nvSpPr>
        <p:spPr>
          <a:xfrm>
            <a:off x="1691640" y="42976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Rectangle 48"/>
          <p:cNvSpPr/>
          <p:nvPr/>
        </p:nvSpPr>
        <p:spPr>
          <a:xfrm>
            <a:off x="1920240" y="42976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Rectangle 49"/>
          <p:cNvSpPr/>
          <p:nvPr/>
        </p:nvSpPr>
        <p:spPr>
          <a:xfrm>
            <a:off x="2148840" y="42976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Rectangle 50"/>
          <p:cNvSpPr/>
          <p:nvPr/>
        </p:nvSpPr>
        <p:spPr>
          <a:xfrm>
            <a:off x="2377440" y="42976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Rectangle 51"/>
          <p:cNvSpPr/>
          <p:nvPr/>
        </p:nvSpPr>
        <p:spPr>
          <a:xfrm>
            <a:off x="2606040" y="42976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Rectangle 52"/>
          <p:cNvSpPr/>
          <p:nvPr/>
        </p:nvSpPr>
        <p:spPr>
          <a:xfrm>
            <a:off x="2834640" y="42976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Rectangle 53"/>
          <p:cNvSpPr/>
          <p:nvPr/>
        </p:nvSpPr>
        <p:spPr>
          <a:xfrm>
            <a:off x="3063240" y="42976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Rectangle 54"/>
          <p:cNvSpPr/>
          <p:nvPr/>
        </p:nvSpPr>
        <p:spPr>
          <a:xfrm>
            <a:off x="548640" y="45262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Rectangle 55"/>
          <p:cNvSpPr/>
          <p:nvPr/>
        </p:nvSpPr>
        <p:spPr>
          <a:xfrm>
            <a:off x="777240" y="45262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Rectangle 56"/>
          <p:cNvSpPr/>
          <p:nvPr/>
        </p:nvSpPr>
        <p:spPr>
          <a:xfrm>
            <a:off x="1005840" y="45262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Rectangle 57"/>
          <p:cNvSpPr/>
          <p:nvPr/>
        </p:nvSpPr>
        <p:spPr>
          <a:xfrm>
            <a:off x="1234440" y="45262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Rectangle 58"/>
          <p:cNvSpPr/>
          <p:nvPr/>
        </p:nvSpPr>
        <p:spPr>
          <a:xfrm>
            <a:off x="1463040" y="45262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Rectangle 59"/>
          <p:cNvSpPr/>
          <p:nvPr/>
        </p:nvSpPr>
        <p:spPr>
          <a:xfrm>
            <a:off x="1691640" y="45262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Rectangle 60"/>
          <p:cNvSpPr/>
          <p:nvPr/>
        </p:nvSpPr>
        <p:spPr>
          <a:xfrm>
            <a:off x="1920240" y="45262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Rectangle 61"/>
          <p:cNvSpPr/>
          <p:nvPr/>
        </p:nvSpPr>
        <p:spPr>
          <a:xfrm>
            <a:off x="2148840" y="45262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Rectangle 62"/>
          <p:cNvSpPr/>
          <p:nvPr/>
        </p:nvSpPr>
        <p:spPr>
          <a:xfrm>
            <a:off x="2377440" y="45262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Rectangle 63"/>
          <p:cNvSpPr/>
          <p:nvPr/>
        </p:nvSpPr>
        <p:spPr>
          <a:xfrm>
            <a:off x="2606040" y="45262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Rectangle 64"/>
          <p:cNvSpPr/>
          <p:nvPr/>
        </p:nvSpPr>
        <p:spPr>
          <a:xfrm>
            <a:off x="2834640" y="45262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Rectangle 65"/>
          <p:cNvSpPr/>
          <p:nvPr/>
        </p:nvSpPr>
        <p:spPr>
          <a:xfrm>
            <a:off x="3063240" y="45262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Rectangle 66"/>
          <p:cNvSpPr/>
          <p:nvPr/>
        </p:nvSpPr>
        <p:spPr>
          <a:xfrm>
            <a:off x="548640" y="47548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Rectangle 67"/>
          <p:cNvSpPr/>
          <p:nvPr/>
        </p:nvSpPr>
        <p:spPr>
          <a:xfrm>
            <a:off x="777240" y="47548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Rectangle 68"/>
          <p:cNvSpPr/>
          <p:nvPr/>
        </p:nvSpPr>
        <p:spPr>
          <a:xfrm>
            <a:off x="1005840" y="47548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Rectangle 69"/>
          <p:cNvSpPr/>
          <p:nvPr/>
        </p:nvSpPr>
        <p:spPr>
          <a:xfrm>
            <a:off x="1234440" y="47548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Rectangle 70"/>
          <p:cNvSpPr/>
          <p:nvPr/>
        </p:nvSpPr>
        <p:spPr>
          <a:xfrm>
            <a:off x="1463040" y="47548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Rectangle 71"/>
          <p:cNvSpPr/>
          <p:nvPr/>
        </p:nvSpPr>
        <p:spPr>
          <a:xfrm>
            <a:off x="1691640" y="47548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Rectangle 72"/>
          <p:cNvSpPr/>
          <p:nvPr/>
        </p:nvSpPr>
        <p:spPr>
          <a:xfrm>
            <a:off x="1920240" y="47548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Rectangle 73"/>
          <p:cNvSpPr/>
          <p:nvPr/>
        </p:nvSpPr>
        <p:spPr>
          <a:xfrm>
            <a:off x="2148840" y="47548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Rectangle 74"/>
          <p:cNvSpPr/>
          <p:nvPr/>
        </p:nvSpPr>
        <p:spPr>
          <a:xfrm>
            <a:off x="2377440" y="47548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Rectangle 75"/>
          <p:cNvSpPr/>
          <p:nvPr/>
        </p:nvSpPr>
        <p:spPr>
          <a:xfrm>
            <a:off x="2606040" y="47548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Rectangle 76"/>
          <p:cNvSpPr/>
          <p:nvPr/>
        </p:nvSpPr>
        <p:spPr>
          <a:xfrm>
            <a:off x="2834640" y="47548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Rectangle 77"/>
          <p:cNvSpPr/>
          <p:nvPr/>
        </p:nvSpPr>
        <p:spPr>
          <a:xfrm>
            <a:off x="3063240" y="47548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Rectangle 78"/>
          <p:cNvSpPr/>
          <p:nvPr/>
        </p:nvSpPr>
        <p:spPr>
          <a:xfrm>
            <a:off x="548640" y="49834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Rectangle 79"/>
          <p:cNvSpPr/>
          <p:nvPr/>
        </p:nvSpPr>
        <p:spPr>
          <a:xfrm>
            <a:off x="777240" y="49834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Rectangle 80"/>
          <p:cNvSpPr/>
          <p:nvPr/>
        </p:nvSpPr>
        <p:spPr>
          <a:xfrm>
            <a:off x="1005840" y="49834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Rectangle 81"/>
          <p:cNvSpPr/>
          <p:nvPr/>
        </p:nvSpPr>
        <p:spPr>
          <a:xfrm>
            <a:off x="1234440" y="49834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Rectangle 82"/>
          <p:cNvSpPr/>
          <p:nvPr/>
        </p:nvSpPr>
        <p:spPr>
          <a:xfrm>
            <a:off x="1463040" y="49834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Rectangle 83"/>
          <p:cNvSpPr/>
          <p:nvPr/>
        </p:nvSpPr>
        <p:spPr>
          <a:xfrm>
            <a:off x="1691640" y="49834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Rectangle 84"/>
          <p:cNvSpPr/>
          <p:nvPr/>
        </p:nvSpPr>
        <p:spPr>
          <a:xfrm>
            <a:off x="1920240" y="49834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Rectangle 85"/>
          <p:cNvSpPr/>
          <p:nvPr/>
        </p:nvSpPr>
        <p:spPr>
          <a:xfrm>
            <a:off x="2148840" y="49834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Rectangle 86"/>
          <p:cNvSpPr/>
          <p:nvPr/>
        </p:nvSpPr>
        <p:spPr>
          <a:xfrm>
            <a:off x="2377440" y="49834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Rectangle 87"/>
          <p:cNvSpPr/>
          <p:nvPr/>
        </p:nvSpPr>
        <p:spPr>
          <a:xfrm>
            <a:off x="2606040" y="49834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Rectangle 88"/>
          <p:cNvSpPr/>
          <p:nvPr/>
        </p:nvSpPr>
        <p:spPr>
          <a:xfrm>
            <a:off x="2834640" y="49834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Rectangle 89"/>
          <p:cNvSpPr/>
          <p:nvPr/>
        </p:nvSpPr>
        <p:spPr>
          <a:xfrm>
            <a:off x="3063240" y="49834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Rectangle 90"/>
          <p:cNvSpPr/>
          <p:nvPr/>
        </p:nvSpPr>
        <p:spPr>
          <a:xfrm>
            <a:off x="548640" y="52120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Rectangle 91"/>
          <p:cNvSpPr/>
          <p:nvPr/>
        </p:nvSpPr>
        <p:spPr>
          <a:xfrm>
            <a:off x="777240" y="52120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Rectangle 92"/>
          <p:cNvSpPr/>
          <p:nvPr/>
        </p:nvSpPr>
        <p:spPr>
          <a:xfrm>
            <a:off x="1005840" y="52120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Rectangle 93"/>
          <p:cNvSpPr/>
          <p:nvPr/>
        </p:nvSpPr>
        <p:spPr>
          <a:xfrm>
            <a:off x="1234440" y="52120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Rectangle 94"/>
          <p:cNvSpPr/>
          <p:nvPr/>
        </p:nvSpPr>
        <p:spPr>
          <a:xfrm>
            <a:off x="1463040" y="52120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Rectangle 95"/>
          <p:cNvSpPr/>
          <p:nvPr/>
        </p:nvSpPr>
        <p:spPr>
          <a:xfrm>
            <a:off x="1691640" y="52120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Rectangle 96"/>
          <p:cNvSpPr/>
          <p:nvPr/>
        </p:nvSpPr>
        <p:spPr>
          <a:xfrm>
            <a:off x="1920240" y="52120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Rectangle 97"/>
          <p:cNvSpPr/>
          <p:nvPr/>
        </p:nvSpPr>
        <p:spPr>
          <a:xfrm>
            <a:off x="2148840" y="52120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Rectangle 98"/>
          <p:cNvSpPr/>
          <p:nvPr/>
        </p:nvSpPr>
        <p:spPr>
          <a:xfrm>
            <a:off x="2377440" y="52120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Rectangle 99"/>
          <p:cNvSpPr/>
          <p:nvPr/>
        </p:nvSpPr>
        <p:spPr>
          <a:xfrm>
            <a:off x="2606040" y="52120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Rectangle 100"/>
          <p:cNvSpPr/>
          <p:nvPr/>
        </p:nvSpPr>
        <p:spPr>
          <a:xfrm>
            <a:off x="2834640" y="52120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Rectangle 101"/>
          <p:cNvSpPr/>
          <p:nvPr/>
        </p:nvSpPr>
        <p:spPr>
          <a:xfrm>
            <a:off x="3063240" y="52120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Rectangle 102"/>
          <p:cNvSpPr/>
          <p:nvPr/>
        </p:nvSpPr>
        <p:spPr>
          <a:xfrm>
            <a:off x="548640" y="54406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Rectangle 103"/>
          <p:cNvSpPr/>
          <p:nvPr/>
        </p:nvSpPr>
        <p:spPr>
          <a:xfrm>
            <a:off x="777240" y="54406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Rectangle 104"/>
          <p:cNvSpPr/>
          <p:nvPr/>
        </p:nvSpPr>
        <p:spPr>
          <a:xfrm>
            <a:off x="1005840" y="54406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Rectangle 105"/>
          <p:cNvSpPr/>
          <p:nvPr/>
        </p:nvSpPr>
        <p:spPr>
          <a:xfrm>
            <a:off x="1234440" y="54406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Rectangle 106"/>
          <p:cNvSpPr/>
          <p:nvPr/>
        </p:nvSpPr>
        <p:spPr>
          <a:xfrm>
            <a:off x="1463040" y="54406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8" name="Rectangle 107"/>
          <p:cNvSpPr/>
          <p:nvPr/>
        </p:nvSpPr>
        <p:spPr>
          <a:xfrm>
            <a:off x="1691640" y="54406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Rectangle 108"/>
          <p:cNvSpPr/>
          <p:nvPr/>
        </p:nvSpPr>
        <p:spPr>
          <a:xfrm>
            <a:off x="1920240" y="54406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Rectangle 109"/>
          <p:cNvSpPr/>
          <p:nvPr/>
        </p:nvSpPr>
        <p:spPr>
          <a:xfrm>
            <a:off x="2148840" y="54406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Rectangle 110"/>
          <p:cNvSpPr/>
          <p:nvPr/>
        </p:nvSpPr>
        <p:spPr>
          <a:xfrm>
            <a:off x="2377440" y="54406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Rectangle 111"/>
          <p:cNvSpPr/>
          <p:nvPr/>
        </p:nvSpPr>
        <p:spPr>
          <a:xfrm>
            <a:off x="2606040" y="54406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3" name="Rectangle 112"/>
          <p:cNvSpPr/>
          <p:nvPr/>
        </p:nvSpPr>
        <p:spPr>
          <a:xfrm>
            <a:off x="2834640" y="54406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Rectangle 113"/>
          <p:cNvSpPr/>
          <p:nvPr/>
        </p:nvSpPr>
        <p:spPr>
          <a:xfrm>
            <a:off x="3063240" y="54406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Rectangle 114"/>
          <p:cNvSpPr/>
          <p:nvPr/>
        </p:nvSpPr>
        <p:spPr>
          <a:xfrm>
            <a:off x="548640" y="56692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6" name="Rectangle 115"/>
          <p:cNvSpPr/>
          <p:nvPr/>
        </p:nvSpPr>
        <p:spPr>
          <a:xfrm>
            <a:off x="777240" y="56692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Rectangle 116"/>
          <p:cNvSpPr/>
          <p:nvPr/>
        </p:nvSpPr>
        <p:spPr>
          <a:xfrm>
            <a:off x="1005840" y="56692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8" name="Rectangle 117"/>
          <p:cNvSpPr/>
          <p:nvPr/>
        </p:nvSpPr>
        <p:spPr>
          <a:xfrm>
            <a:off x="1234440" y="56692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Rectangle 118"/>
          <p:cNvSpPr/>
          <p:nvPr/>
        </p:nvSpPr>
        <p:spPr>
          <a:xfrm>
            <a:off x="1463040" y="56692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Rectangle 119"/>
          <p:cNvSpPr/>
          <p:nvPr/>
        </p:nvSpPr>
        <p:spPr>
          <a:xfrm>
            <a:off x="1691640" y="56692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Rectangle 120"/>
          <p:cNvSpPr/>
          <p:nvPr/>
        </p:nvSpPr>
        <p:spPr>
          <a:xfrm>
            <a:off x="1920240" y="56692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2" name="Rectangle 121"/>
          <p:cNvSpPr/>
          <p:nvPr/>
        </p:nvSpPr>
        <p:spPr>
          <a:xfrm>
            <a:off x="2148840" y="56692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 name="Rectangle 122"/>
          <p:cNvSpPr/>
          <p:nvPr/>
        </p:nvSpPr>
        <p:spPr>
          <a:xfrm>
            <a:off x="2377440" y="56692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4" name="Rectangle 123"/>
          <p:cNvSpPr/>
          <p:nvPr/>
        </p:nvSpPr>
        <p:spPr>
          <a:xfrm>
            <a:off x="2606040" y="5669280"/>
            <a:ext cx="182880" cy="1828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5" name="TextBox 124"/>
          <p:cNvSpPr txBox="1"/>
          <p:nvPr/>
        </p:nvSpPr>
        <p:spPr>
          <a:xfrm>
            <a:off x="3611880" y="3566160"/>
            <a:ext cx="2377440" cy="457200"/>
          </a:xfrm>
          <a:prstGeom prst="rect">
            <a:avLst/>
          </a:prstGeom>
          <a:noFill/>
        </p:spPr>
        <p:txBody>
          <a:bodyPr wrap="square" lIns="0" tIns="0" rIns="0" bIns="0" anchor="t">
            <a:spAutoFit/>
          </a:bodyPr>
          <a:lstStyle/>
          <a:p>
            <a:pPr>
              <a:lnSpc>
                <a:spcPct val="100000"/>
              </a:lnSpc>
            </a:pPr>
            <a:r>
              <a:rPr sz="1250" b="1" i="0">
                <a:solidFill>
                  <a:srgbClr val="2A9D8F"/>
                </a:solidFill>
                <a:latin typeface="Calibri"/>
              </a:rPr>
              <a:t>Held out: 35</a:t>
            </a:r>
          </a:p>
          <a:p>
            <a:pPr>
              <a:lnSpc>
                <a:spcPct val="100000"/>
              </a:lnSpc>
            </a:pPr>
            <a:r>
              <a:rPr sz="1250" b="0" i="0">
                <a:solidFill>
                  <a:srgbClr val="595959"/>
                </a:solidFill>
                <a:latin typeface="Calibri"/>
              </a:rPr>
              <a:t>20 patients, 6 deaths (17%)</a:t>
            </a:r>
          </a:p>
        </p:txBody>
      </p:sp>
      <p:sp>
        <p:nvSpPr>
          <p:cNvPr id="126" name="Rectangle 125"/>
          <p:cNvSpPr/>
          <p:nvPr/>
        </p:nvSpPr>
        <p:spPr>
          <a:xfrm>
            <a:off x="3611880" y="40690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7" name="Rectangle 126"/>
          <p:cNvSpPr/>
          <p:nvPr/>
        </p:nvSpPr>
        <p:spPr>
          <a:xfrm>
            <a:off x="3840480" y="40690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8" name="Rectangle 127"/>
          <p:cNvSpPr/>
          <p:nvPr/>
        </p:nvSpPr>
        <p:spPr>
          <a:xfrm>
            <a:off x="4069080" y="40690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9" name="Rectangle 128"/>
          <p:cNvSpPr/>
          <p:nvPr/>
        </p:nvSpPr>
        <p:spPr>
          <a:xfrm>
            <a:off x="4297680" y="40690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Rectangle 129"/>
          <p:cNvSpPr/>
          <p:nvPr/>
        </p:nvSpPr>
        <p:spPr>
          <a:xfrm>
            <a:off x="4526280" y="40690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1" name="Rectangle 130"/>
          <p:cNvSpPr/>
          <p:nvPr/>
        </p:nvSpPr>
        <p:spPr>
          <a:xfrm>
            <a:off x="4754880" y="4069080"/>
            <a:ext cx="182880" cy="1828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2" name="Rectangle 131"/>
          <p:cNvSpPr/>
          <p:nvPr/>
        </p:nvSpPr>
        <p:spPr>
          <a:xfrm>
            <a:off x="3611880" y="4297680"/>
            <a:ext cx="182880" cy="182880"/>
          </a:xfrm>
          <a:prstGeom prst="rect">
            <a:avLst/>
          </a:prstGeom>
          <a:solidFill>
            <a:srgbClr val="9F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 name="Rectangle 132"/>
          <p:cNvSpPr/>
          <p:nvPr/>
        </p:nvSpPr>
        <p:spPr>
          <a:xfrm>
            <a:off x="3840480" y="4297680"/>
            <a:ext cx="182880" cy="182880"/>
          </a:xfrm>
          <a:prstGeom prst="rect">
            <a:avLst/>
          </a:prstGeom>
          <a:solidFill>
            <a:srgbClr val="9F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4" name="Rectangle 133"/>
          <p:cNvSpPr/>
          <p:nvPr/>
        </p:nvSpPr>
        <p:spPr>
          <a:xfrm>
            <a:off x="4069080" y="4297680"/>
            <a:ext cx="182880" cy="182880"/>
          </a:xfrm>
          <a:prstGeom prst="rect">
            <a:avLst/>
          </a:prstGeom>
          <a:solidFill>
            <a:srgbClr val="9F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5" name="Rectangle 134"/>
          <p:cNvSpPr/>
          <p:nvPr/>
        </p:nvSpPr>
        <p:spPr>
          <a:xfrm>
            <a:off x="4297680" y="4297680"/>
            <a:ext cx="182880" cy="182880"/>
          </a:xfrm>
          <a:prstGeom prst="rect">
            <a:avLst/>
          </a:prstGeom>
          <a:solidFill>
            <a:srgbClr val="9F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6" name="Rectangle 135"/>
          <p:cNvSpPr/>
          <p:nvPr/>
        </p:nvSpPr>
        <p:spPr>
          <a:xfrm>
            <a:off x="4526280" y="4297680"/>
            <a:ext cx="182880" cy="182880"/>
          </a:xfrm>
          <a:prstGeom prst="rect">
            <a:avLst/>
          </a:prstGeom>
          <a:solidFill>
            <a:srgbClr val="9F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7" name="Rectangle 136"/>
          <p:cNvSpPr/>
          <p:nvPr/>
        </p:nvSpPr>
        <p:spPr>
          <a:xfrm>
            <a:off x="4754880" y="4297680"/>
            <a:ext cx="182880" cy="182880"/>
          </a:xfrm>
          <a:prstGeom prst="rect">
            <a:avLst/>
          </a:prstGeom>
          <a:solidFill>
            <a:srgbClr val="9F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8" name="Rectangle 137"/>
          <p:cNvSpPr/>
          <p:nvPr/>
        </p:nvSpPr>
        <p:spPr>
          <a:xfrm>
            <a:off x="3611880" y="4526280"/>
            <a:ext cx="182880" cy="182880"/>
          </a:xfrm>
          <a:prstGeom prst="rect">
            <a:avLst/>
          </a:prstGeom>
          <a:solidFill>
            <a:srgbClr val="9F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9" name="Rectangle 138"/>
          <p:cNvSpPr/>
          <p:nvPr/>
        </p:nvSpPr>
        <p:spPr>
          <a:xfrm>
            <a:off x="3840480" y="4526280"/>
            <a:ext cx="182880" cy="182880"/>
          </a:xfrm>
          <a:prstGeom prst="rect">
            <a:avLst/>
          </a:prstGeom>
          <a:solidFill>
            <a:srgbClr val="9F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Rectangle 139"/>
          <p:cNvSpPr/>
          <p:nvPr/>
        </p:nvSpPr>
        <p:spPr>
          <a:xfrm>
            <a:off x="4069080" y="4526280"/>
            <a:ext cx="182880" cy="182880"/>
          </a:xfrm>
          <a:prstGeom prst="rect">
            <a:avLst/>
          </a:prstGeom>
          <a:solidFill>
            <a:srgbClr val="9F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1" name="Rectangle 140"/>
          <p:cNvSpPr/>
          <p:nvPr/>
        </p:nvSpPr>
        <p:spPr>
          <a:xfrm>
            <a:off x="4297680" y="4526280"/>
            <a:ext cx="182880" cy="182880"/>
          </a:xfrm>
          <a:prstGeom prst="rect">
            <a:avLst/>
          </a:prstGeom>
          <a:solidFill>
            <a:srgbClr val="9F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Rectangle 141"/>
          <p:cNvSpPr/>
          <p:nvPr/>
        </p:nvSpPr>
        <p:spPr>
          <a:xfrm>
            <a:off x="4526280" y="4526280"/>
            <a:ext cx="182880" cy="182880"/>
          </a:xfrm>
          <a:prstGeom prst="rect">
            <a:avLst/>
          </a:prstGeom>
          <a:solidFill>
            <a:srgbClr val="9F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3" name="Rectangle 142"/>
          <p:cNvSpPr/>
          <p:nvPr/>
        </p:nvSpPr>
        <p:spPr>
          <a:xfrm>
            <a:off x="4754880" y="4526280"/>
            <a:ext cx="182880" cy="182880"/>
          </a:xfrm>
          <a:prstGeom prst="rect">
            <a:avLst/>
          </a:prstGeom>
          <a:solidFill>
            <a:srgbClr val="9F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4" name="Rectangle 143"/>
          <p:cNvSpPr/>
          <p:nvPr/>
        </p:nvSpPr>
        <p:spPr>
          <a:xfrm>
            <a:off x="3611880" y="4754880"/>
            <a:ext cx="182880" cy="182880"/>
          </a:xfrm>
          <a:prstGeom prst="rect">
            <a:avLst/>
          </a:prstGeom>
          <a:solidFill>
            <a:srgbClr val="9F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Rectangle 144"/>
          <p:cNvSpPr/>
          <p:nvPr/>
        </p:nvSpPr>
        <p:spPr>
          <a:xfrm>
            <a:off x="3840480" y="4754880"/>
            <a:ext cx="182880" cy="182880"/>
          </a:xfrm>
          <a:prstGeom prst="rect">
            <a:avLst/>
          </a:prstGeom>
          <a:solidFill>
            <a:srgbClr val="9F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6" name="Rectangle 145"/>
          <p:cNvSpPr/>
          <p:nvPr/>
        </p:nvSpPr>
        <p:spPr>
          <a:xfrm>
            <a:off x="4069080" y="4754880"/>
            <a:ext cx="182880" cy="182880"/>
          </a:xfrm>
          <a:prstGeom prst="rect">
            <a:avLst/>
          </a:prstGeom>
          <a:solidFill>
            <a:srgbClr val="FFFFFF"/>
          </a:solidFill>
          <a:ln w="15875">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7" name="Rectangle 146"/>
          <p:cNvSpPr/>
          <p:nvPr/>
        </p:nvSpPr>
        <p:spPr>
          <a:xfrm>
            <a:off x="4297680" y="4754880"/>
            <a:ext cx="182880" cy="182880"/>
          </a:xfrm>
          <a:prstGeom prst="rect">
            <a:avLst/>
          </a:prstGeom>
          <a:solidFill>
            <a:srgbClr val="FFFFFF"/>
          </a:solidFill>
          <a:ln w="15875">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8" name="Rectangle 147"/>
          <p:cNvSpPr/>
          <p:nvPr/>
        </p:nvSpPr>
        <p:spPr>
          <a:xfrm>
            <a:off x="4526280" y="4754880"/>
            <a:ext cx="182880" cy="182880"/>
          </a:xfrm>
          <a:prstGeom prst="rect">
            <a:avLst/>
          </a:prstGeom>
          <a:solidFill>
            <a:srgbClr val="FFFFFF"/>
          </a:solidFill>
          <a:ln w="15875">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9" name="Rectangle 148"/>
          <p:cNvSpPr/>
          <p:nvPr/>
        </p:nvSpPr>
        <p:spPr>
          <a:xfrm>
            <a:off x="4754880" y="4754880"/>
            <a:ext cx="182880" cy="182880"/>
          </a:xfrm>
          <a:prstGeom prst="rect">
            <a:avLst/>
          </a:prstGeom>
          <a:solidFill>
            <a:srgbClr val="FFFFFF"/>
          </a:solidFill>
          <a:ln w="15875">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Rectangle 149"/>
          <p:cNvSpPr/>
          <p:nvPr/>
        </p:nvSpPr>
        <p:spPr>
          <a:xfrm>
            <a:off x="3611880" y="4983480"/>
            <a:ext cx="182880" cy="182880"/>
          </a:xfrm>
          <a:prstGeom prst="rect">
            <a:avLst/>
          </a:prstGeom>
          <a:solidFill>
            <a:srgbClr val="FFFFFF"/>
          </a:solidFill>
          <a:ln w="15875">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1" name="Rectangle 150"/>
          <p:cNvSpPr/>
          <p:nvPr/>
        </p:nvSpPr>
        <p:spPr>
          <a:xfrm>
            <a:off x="3840480" y="4983480"/>
            <a:ext cx="182880" cy="182880"/>
          </a:xfrm>
          <a:prstGeom prst="rect">
            <a:avLst/>
          </a:prstGeom>
          <a:solidFill>
            <a:srgbClr val="FFFFFF"/>
          </a:solidFill>
          <a:ln w="15875">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2" name="Rectangle 151"/>
          <p:cNvSpPr/>
          <p:nvPr/>
        </p:nvSpPr>
        <p:spPr>
          <a:xfrm>
            <a:off x="4069080" y="4983480"/>
            <a:ext cx="182880" cy="182880"/>
          </a:xfrm>
          <a:prstGeom prst="rect">
            <a:avLst/>
          </a:prstGeom>
          <a:solidFill>
            <a:srgbClr val="FFFFFF"/>
          </a:solidFill>
          <a:ln w="15875">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3" name="Rectangle 152"/>
          <p:cNvSpPr/>
          <p:nvPr/>
        </p:nvSpPr>
        <p:spPr>
          <a:xfrm>
            <a:off x="4297680" y="4983480"/>
            <a:ext cx="182880" cy="182880"/>
          </a:xfrm>
          <a:prstGeom prst="rect">
            <a:avLst/>
          </a:prstGeom>
          <a:solidFill>
            <a:srgbClr val="FFFFFF"/>
          </a:solidFill>
          <a:ln w="15875">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Rectangle 153"/>
          <p:cNvSpPr/>
          <p:nvPr/>
        </p:nvSpPr>
        <p:spPr>
          <a:xfrm>
            <a:off x="4526280" y="4983480"/>
            <a:ext cx="182880" cy="182880"/>
          </a:xfrm>
          <a:prstGeom prst="rect">
            <a:avLst/>
          </a:prstGeom>
          <a:solidFill>
            <a:srgbClr val="FFFFFF"/>
          </a:solidFill>
          <a:ln w="15875">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5" name="Rectangle 154"/>
          <p:cNvSpPr/>
          <p:nvPr/>
        </p:nvSpPr>
        <p:spPr>
          <a:xfrm>
            <a:off x="4754880" y="4983480"/>
            <a:ext cx="182880" cy="182880"/>
          </a:xfrm>
          <a:prstGeom prst="rect">
            <a:avLst/>
          </a:prstGeom>
          <a:solidFill>
            <a:srgbClr val="FFFFFF"/>
          </a:solidFill>
          <a:ln w="15875">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Rectangle 155"/>
          <p:cNvSpPr/>
          <p:nvPr/>
        </p:nvSpPr>
        <p:spPr>
          <a:xfrm>
            <a:off x="3611880" y="5212080"/>
            <a:ext cx="182880" cy="182880"/>
          </a:xfrm>
          <a:prstGeom prst="rect">
            <a:avLst/>
          </a:prstGeom>
          <a:solidFill>
            <a:srgbClr val="FFFFFF"/>
          </a:solidFill>
          <a:ln w="15875">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7" name="Rectangle 156"/>
          <p:cNvSpPr/>
          <p:nvPr/>
        </p:nvSpPr>
        <p:spPr>
          <a:xfrm>
            <a:off x="3840480" y="5212080"/>
            <a:ext cx="182880" cy="182880"/>
          </a:xfrm>
          <a:prstGeom prst="rect">
            <a:avLst/>
          </a:prstGeom>
          <a:solidFill>
            <a:srgbClr val="FFFFFF"/>
          </a:solidFill>
          <a:ln w="15875">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Rectangle 157"/>
          <p:cNvSpPr/>
          <p:nvPr/>
        </p:nvSpPr>
        <p:spPr>
          <a:xfrm>
            <a:off x="4069080" y="5212080"/>
            <a:ext cx="182880" cy="182880"/>
          </a:xfrm>
          <a:prstGeom prst="rect">
            <a:avLst/>
          </a:prstGeom>
          <a:solidFill>
            <a:srgbClr val="FFFFFF"/>
          </a:solidFill>
          <a:ln w="15875">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9" name="Rectangle 158"/>
          <p:cNvSpPr/>
          <p:nvPr/>
        </p:nvSpPr>
        <p:spPr>
          <a:xfrm>
            <a:off x="4297680" y="5212080"/>
            <a:ext cx="182880" cy="182880"/>
          </a:xfrm>
          <a:prstGeom prst="rect">
            <a:avLst/>
          </a:prstGeom>
          <a:solidFill>
            <a:srgbClr val="FFFFFF"/>
          </a:solidFill>
          <a:ln w="15875">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0" name="Rectangle 159"/>
          <p:cNvSpPr/>
          <p:nvPr/>
        </p:nvSpPr>
        <p:spPr>
          <a:xfrm>
            <a:off x="4526280" y="5212080"/>
            <a:ext cx="182880" cy="182880"/>
          </a:xfrm>
          <a:prstGeom prst="rect">
            <a:avLst/>
          </a:prstGeom>
          <a:solidFill>
            <a:srgbClr val="FFFFFF"/>
          </a:solidFill>
          <a:ln w="15875">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1" name="Rectangle 160"/>
          <p:cNvSpPr/>
          <p:nvPr/>
        </p:nvSpPr>
        <p:spPr>
          <a:xfrm>
            <a:off x="548640" y="6035040"/>
            <a:ext cx="146304" cy="1463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2" name="TextBox 161"/>
          <p:cNvSpPr txBox="1"/>
          <p:nvPr/>
        </p:nvSpPr>
        <p:spPr>
          <a:xfrm>
            <a:off x="758952" y="5989320"/>
            <a:ext cx="731520" cy="237744"/>
          </a:xfrm>
          <a:prstGeom prst="rect">
            <a:avLst/>
          </a:prstGeom>
          <a:noFill/>
        </p:spPr>
        <p:txBody>
          <a:bodyPr wrap="square" lIns="0" tIns="0" rIns="0" bIns="0" anchor="ctr">
            <a:spAutoFit/>
          </a:bodyPr>
          <a:lstStyle/>
          <a:p>
            <a:r>
              <a:rPr sz="1100" b="0" i="0">
                <a:solidFill>
                  <a:srgbClr val="595959"/>
                </a:solidFill>
                <a:latin typeface="Calibri"/>
              </a:rPr>
              <a:t>died</a:t>
            </a:r>
          </a:p>
        </p:txBody>
      </p:sp>
      <p:sp>
        <p:nvSpPr>
          <p:cNvPr id="163" name="Rectangle 162"/>
          <p:cNvSpPr/>
          <p:nvPr/>
        </p:nvSpPr>
        <p:spPr>
          <a:xfrm>
            <a:off x="1280160" y="6035040"/>
            <a:ext cx="146304" cy="14630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4" name="TextBox 163"/>
          <p:cNvSpPr txBox="1"/>
          <p:nvPr/>
        </p:nvSpPr>
        <p:spPr>
          <a:xfrm>
            <a:off x="1490472" y="5989320"/>
            <a:ext cx="1600200" cy="237744"/>
          </a:xfrm>
          <a:prstGeom prst="rect">
            <a:avLst/>
          </a:prstGeom>
          <a:noFill/>
        </p:spPr>
        <p:txBody>
          <a:bodyPr wrap="square" lIns="0" tIns="0" rIns="0" bIns="0" anchor="ctr">
            <a:spAutoFit/>
          </a:bodyPr>
          <a:lstStyle/>
          <a:p>
            <a:r>
              <a:rPr sz="1100" b="0" i="0">
                <a:solidFill>
                  <a:srgbClr val="595959"/>
                </a:solidFill>
                <a:latin typeface="Calibri"/>
              </a:rPr>
              <a:t>survived, training</a:t>
            </a:r>
          </a:p>
        </p:txBody>
      </p:sp>
      <p:sp>
        <p:nvSpPr>
          <p:cNvPr id="165" name="Rectangle 164"/>
          <p:cNvSpPr/>
          <p:nvPr/>
        </p:nvSpPr>
        <p:spPr>
          <a:xfrm>
            <a:off x="2880360" y="6035040"/>
            <a:ext cx="146304" cy="146304"/>
          </a:xfrm>
          <a:prstGeom prst="rect">
            <a:avLst/>
          </a:prstGeom>
          <a:solidFill>
            <a:srgbClr val="9F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6" name="TextBox 165"/>
          <p:cNvSpPr txBox="1"/>
          <p:nvPr/>
        </p:nvSpPr>
        <p:spPr>
          <a:xfrm>
            <a:off x="3090672" y="5989320"/>
            <a:ext cx="1600200" cy="237744"/>
          </a:xfrm>
          <a:prstGeom prst="rect">
            <a:avLst/>
          </a:prstGeom>
          <a:noFill/>
        </p:spPr>
        <p:txBody>
          <a:bodyPr wrap="square" lIns="0" tIns="0" rIns="0" bIns="0" anchor="ctr">
            <a:spAutoFit/>
          </a:bodyPr>
          <a:lstStyle/>
          <a:p>
            <a:r>
              <a:rPr sz="1100" b="0" i="0">
                <a:solidFill>
                  <a:srgbClr val="595959"/>
                </a:solidFill>
                <a:latin typeface="Calibri"/>
              </a:rPr>
              <a:t>survived, held out</a:t>
            </a:r>
          </a:p>
        </p:txBody>
      </p:sp>
      <p:sp>
        <p:nvSpPr>
          <p:cNvPr id="167" name="Rectangle 166"/>
          <p:cNvSpPr/>
          <p:nvPr/>
        </p:nvSpPr>
        <p:spPr>
          <a:xfrm>
            <a:off x="4480560" y="6035040"/>
            <a:ext cx="146304" cy="146304"/>
          </a:xfrm>
          <a:prstGeom prst="rect">
            <a:avLst/>
          </a:prstGeom>
          <a:solidFill>
            <a:srgbClr val="FFFFFF"/>
          </a:solidFill>
          <a:ln w="15875">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TextBox 167"/>
          <p:cNvSpPr txBox="1"/>
          <p:nvPr/>
        </p:nvSpPr>
        <p:spPr>
          <a:xfrm>
            <a:off x="4690872" y="5989320"/>
            <a:ext cx="1737360" cy="237744"/>
          </a:xfrm>
          <a:prstGeom prst="rect">
            <a:avLst/>
          </a:prstGeom>
          <a:noFill/>
        </p:spPr>
        <p:txBody>
          <a:bodyPr wrap="square" lIns="0" tIns="0" rIns="0" bIns="0" anchor="ctr">
            <a:spAutoFit/>
          </a:bodyPr>
          <a:lstStyle/>
          <a:p>
            <a:r>
              <a:rPr sz="1100" b="0" i="0">
                <a:solidFill>
                  <a:srgbClr val="595959"/>
                </a:solidFill>
                <a:latin typeface="Calibri"/>
              </a:rPr>
              <a:t>one patient, 15 stays</a:t>
            </a:r>
          </a:p>
        </p:txBody>
      </p:sp>
      <p:sp>
        <p:nvSpPr>
          <p:cNvPr id="169" name="TextBox 168"/>
          <p:cNvSpPr txBox="1"/>
          <p:nvPr/>
        </p:nvSpPr>
        <p:spPr>
          <a:xfrm>
            <a:off x="6766560" y="3246120"/>
            <a:ext cx="4846320" cy="274320"/>
          </a:xfrm>
          <a:prstGeom prst="rect">
            <a:avLst/>
          </a:prstGeom>
          <a:noFill/>
        </p:spPr>
        <p:txBody>
          <a:bodyPr wrap="square" lIns="0" tIns="0" rIns="0" bIns="0" anchor="t">
            <a:spAutoFit/>
          </a:bodyPr>
          <a:lstStyle/>
          <a:p>
            <a:r>
              <a:rPr sz="1200" b="1" i="0" spc="200">
                <a:solidFill>
                  <a:srgbClr val="C00000"/>
                </a:solidFill>
                <a:latin typeface="Calibri"/>
              </a:rPr>
              <a:t>56 COLUMNS PER ADMISSION</a:t>
            </a:r>
          </a:p>
        </p:txBody>
      </p:sp>
      <p:sp>
        <p:nvSpPr>
          <p:cNvPr id="170" name="Rectangle 169"/>
          <p:cNvSpPr/>
          <p:nvPr/>
        </p:nvSpPr>
        <p:spPr>
          <a:xfrm>
            <a:off x="6766560" y="3584448"/>
            <a:ext cx="3453819" cy="25603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1" name="Rectangle 170"/>
          <p:cNvSpPr/>
          <p:nvPr/>
        </p:nvSpPr>
        <p:spPr>
          <a:xfrm>
            <a:off x="10247811" y="3584448"/>
            <a:ext cx="320693" cy="256032"/>
          </a:xfrm>
          <a:prstGeom prst="rect">
            <a:avLst/>
          </a:prstGeom>
          <a:solidFill>
            <a:srgbClr val="4B56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2" name="Rectangle 171"/>
          <p:cNvSpPr/>
          <p:nvPr/>
        </p:nvSpPr>
        <p:spPr>
          <a:xfrm>
            <a:off x="10595936" y="3584448"/>
            <a:ext cx="320693" cy="256032"/>
          </a:xfrm>
          <a:prstGeom prst="rect">
            <a:avLst/>
          </a:prstGeom>
          <a:solidFill>
            <a:srgbClr val="7880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3" name="Rectangle 172"/>
          <p:cNvSpPr/>
          <p:nvPr/>
        </p:nvSpPr>
        <p:spPr>
          <a:xfrm>
            <a:off x="10944061" y="3584448"/>
            <a:ext cx="233661" cy="256032"/>
          </a:xfrm>
          <a:prstGeom prst="rect">
            <a:avLst/>
          </a:prstGeom>
          <a:solidFill>
            <a:srgbClr val="A6A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 name="Rectangle 173"/>
          <p:cNvSpPr/>
          <p:nvPr/>
        </p:nvSpPr>
        <p:spPr>
          <a:xfrm>
            <a:off x="11205155" y="3584448"/>
            <a:ext cx="146630" cy="25603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5" name="Rectangle 174"/>
          <p:cNvSpPr/>
          <p:nvPr/>
        </p:nvSpPr>
        <p:spPr>
          <a:xfrm>
            <a:off x="11379218" y="3584448"/>
            <a:ext cx="233661" cy="256032"/>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6" name="Rectangle 175"/>
          <p:cNvSpPr/>
          <p:nvPr/>
        </p:nvSpPr>
        <p:spPr>
          <a:xfrm>
            <a:off x="6766560" y="4069080"/>
            <a:ext cx="137160" cy="1371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7" name="TextBox 176"/>
          <p:cNvSpPr txBox="1"/>
          <p:nvPr/>
        </p:nvSpPr>
        <p:spPr>
          <a:xfrm>
            <a:off x="7022592" y="4005072"/>
            <a:ext cx="4617720" cy="292608"/>
          </a:xfrm>
          <a:prstGeom prst="rect">
            <a:avLst/>
          </a:prstGeom>
          <a:noFill/>
        </p:spPr>
        <p:txBody>
          <a:bodyPr wrap="square" lIns="0" tIns="0" rIns="0" bIns="0" anchor="ctr">
            <a:spAutoFit/>
          </a:bodyPr>
          <a:lstStyle/>
          <a:p>
            <a:r>
              <a:rPr sz="1200" b="1" i="0">
                <a:solidFill>
                  <a:srgbClr val="1B1B1B"/>
                </a:solidFill>
                <a:latin typeface="Calibri"/>
              </a:rPr>
              <a:t>Labs </a:t>
            </a:r>
            <a:r>
              <a:rPr sz="1200" b="0" i="0">
                <a:solidFill>
                  <a:srgbClr val="595959"/>
                </a:solidFill>
                <a:latin typeface="Calibri"/>
              </a:rPr>
              <a:t>(40)  mean and abnormal share of 20 common tests</a:t>
            </a:r>
          </a:p>
        </p:txBody>
      </p:sp>
      <p:sp>
        <p:nvSpPr>
          <p:cNvPr id="178" name="Rectangle 177"/>
          <p:cNvSpPr/>
          <p:nvPr/>
        </p:nvSpPr>
        <p:spPr>
          <a:xfrm>
            <a:off x="6766560" y="4434840"/>
            <a:ext cx="137160" cy="137160"/>
          </a:xfrm>
          <a:prstGeom prst="rect">
            <a:avLst/>
          </a:prstGeom>
          <a:solidFill>
            <a:srgbClr val="4B56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9" name="TextBox 178"/>
          <p:cNvSpPr txBox="1"/>
          <p:nvPr/>
        </p:nvSpPr>
        <p:spPr>
          <a:xfrm>
            <a:off x="7022592" y="4370832"/>
            <a:ext cx="4617720" cy="292608"/>
          </a:xfrm>
          <a:prstGeom prst="rect">
            <a:avLst/>
          </a:prstGeom>
          <a:noFill/>
        </p:spPr>
        <p:txBody>
          <a:bodyPr wrap="square" lIns="0" tIns="0" rIns="0" bIns="0" anchor="ctr">
            <a:spAutoFit/>
          </a:bodyPr>
          <a:lstStyle/>
          <a:p>
            <a:r>
              <a:rPr sz="1200" b="1" i="0">
                <a:solidFill>
                  <a:srgbClr val="1B1B1B"/>
                </a:solidFill>
                <a:latin typeface="Calibri"/>
              </a:rPr>
              <a:t>Demographics </a:t>
            </a:r>
            <a:r>
              <a:rPr sz="1200" b="0" i="0">
                <a:solidFill>
                  <a:srgbClr val="595959"/>
                </a:solidFill>
                <a:latin typeface="Calibri"/>
              </a:rPr>
              <a:t>(4)  age, sex, ethnicity</a:t>
            </a:r>
          </a:p>
        </p:txBody>
      </p:sp>
      <p:sp>
        <p:nvSpPr>
          <p:cNvPr id="180" name="Rectangle 179"/>
          <p:cNvSpPr/>
          <p:nvPr/>
        </p:nvSpPr>
        <p:spPr>
          <a:xfrm>
            <a:off x="6766560" y="4800600"/>
            <a:ext cx="137160" cy="137160"/>
          </a:xfrm>
          <a:prstGeom prst="rect">
            <a:avLst/>
          </a:prstGeom>
          <a:solidFill>
            <a:srgbClr val="7880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1" name="TextBox 180"/>
          <p:cNvSpPr txBox="1"/>
          <p:nvPr/>
        </p:nvSpPr>
        <p:spPr>
          <a:xfrm>
            <a:off x="7022592" y="4736592"/>
            <a:ext cx="4617720" cy="292608"/>
          </a:xfrm>
          <a:prstGeom prst="rect">
            <a:avLst/>
          </a:prstGeom>
          <a:noFill/>
        </p:spPr>
        <p:txBody>
          <a:bodyPr wrap="square" lIns="0" tIns="0" rIns="0" bIns="0" anchor="ctr">
            <a:spAutoFit/>
          </a:bodyPr>
          <a:lstStyle/>
          <a:p>
            <a:r>
              <a:rPr sz="1200" b="1" i="0">
                <a:solidFill>
                  <a:srgbClr val="1B1B1B"/>
                </a:solidFill>
                <a:latin typeface="Calibri"/>
              </a:rPr>
              <a:t>Stay </a:t>
            </a:r>
            <a:r>
              <a:rPr sz="1200" b="0" i="0">
                <a:solidFill>
                  <a:srgbClr val="595959"/>
                </a:solidFill>
                <a:latin typeface="Calibri"/>
              </a:rPr>
              <a:t>(4)  admission type, care unit, stay lengths</a:t>
            </a:r>
          </a:p>
        </p:txBody>
      </p:sp>
      <p:sp>
        <p:nvSpPr>
          <p:cNvPr id="182" name="Rectangle 181"/>
          <p:cNvSpPr/>
          <p:nvPr/>
        </p:nvSpPr>
        <p:spPr>
          <a:xfrm>
            <a:off x="6766560" y="5166360"/>
            <a:ext cx="137160" cy="137160"/>
          </a:xfrm>
          <a:prstGeom prst="rect">
            <a:avLst/>
          </a:prstGeom>
          <a:solidFill>
            <a:srgbClr val="A6A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3" name="TextBox 182"/>
          <p:cNvSpPr txBox="1"/>
          <p:nvPr/>
        </p:nvSpPr>
        <p:spPr>
          <a:xfrm>
            <a:off x="7022592" y="5102352"/>
            <a:ext cx="4617720" cy="292608"/>
          </a:xfrm>
          <a:prstGeom prst="rect">
            <a:avLst/>
          </a:prstGeom>
          <a:noFill/>
        </p:spPr>
        <p:txBody>
          <a:bodyPr wrap="square" lIns="0" tIns="0" rIns="0" bIns="0" anchor="ctr">
            <a:spAutoFit/>
          </a:bodyPr>
          <a:lstStyle/>
          <a:p>
            <a:r>
              <a:rPr sz="1200" b="1" i="0">
                <a:solidFill>
                  <a:srgbClr val="1B1B1B"/>
                </a:solidFill>
                <a:latin typeface="Calibri"/>
              </a:rPr>
              <a:t>Diagnoses </a:t>
            </a:r>
            <a:r>
              <a:rPr sz="1200" b="0" i="0">
                <a:solidFill>
                  <a:srgbClr val="595959"/>
                </a:solidFill>
                <a:latin typeface="Calibri"/>
              </a:rPr>
              <a:t>(3)  primary ICD-9 code, count, full code set</a:t>
            </a:r>
          </a:p>
        </p:txBody>
      </p:sp>
      <p:sp>
        <p:nvSpPr>
          <p:cNvPr id="184" name="Rectangle 183"/>
          <p:cNvSpPr/>
          <p:nvPr/>
        </p:nvSpPr>
        <p:spPr>
          <a:xfrm>
            <a:off x="6766560" y="5532120"/>
            <a:ext cx="137160" cy="1371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5" name="TextBox 184"/>
          <p:cNvSpPr txBox="1"/>
          <p:nvPr/>
        </p:nvSpPr>
        <p:spPr>
          <a:xfrm>
            <a:off x="7022592" y="5468112"/>
            <a:ext cx="4617720" cy="292608"/>
          </a:xfrm>
          <a:prstGeom prst="rect">
            <a:avLst/>
          </a:prstGeom>
          <a:noFill/>
        </p:spPr>
        <p:txBody>
          <a:bodyPr wrap="square" lIns="0" tIns="0" rIns="0" bIns="0" anchor="ctr">
            <a:spAutoFit/>
          </a:bodyPr>
          <a:lstStyle/>
          <a:p>
            <a:r>
              <a:rPr sz="1200" b="1" i="0">
                <a:solidFill>
                  <a:srgbClr val="1B1B1B"/>
                </a:solidFill>
                <a:latin typeface="Calibri"/>
              </a:rPr>
              <a:t>Outcomes </a:t>
            </a:r>
            <a:r>
              <a:rPr sz="1200" b="0" i="0">
                <a:solidFill>
                  <a:srgbClr val="595959"/>
                </a:solidFill>
                <a:latin typeface="Calibri"/>
              </a:rPr>
              <a:t>(2)  in-hospital death (target), readmission</a:t>
            </a:r>
          </a:p>
        </p:txBody>
      </p:sp>
      <p:sp>
        <p:nvSpPr>
          <p:cNvPr id="186" name="Rectangle 185"/>
          <p:cNvSpPr/>
          <p:nvPr/>
        </p:nvSpPr>
        <p:spPr>
          <a:xfrm>
            <a:off x="6766560" y="5897880"/>
            <a:ext cx="137160" cy="13716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7" name="TextBox 186"/>
          <p:cNvSpPr txBox="1"/>
          <p:nvPr/>
        </p:nvSpPr>
        <p:spPr>
          <a:xfrm>
            <a:off x="7022592" y="5833872"/>
            <a:ext cx="4617720" cy="292608"/>
          </a:xfrm>
          <a:prstGeom prst="rect">
            <a:avLst/>
          </a:prstGeom>
          <a:noFill/>
        </p:spPr>
        <p:txBody>
          <a:bodyPr wrap="square" lIns="0" tIns="0" rIns="0" bIns="0" anchor="ctr">
            <a:spAutoFit/>
          </a:bodyPr>
          <a:lstStyle/>
          <a:p>
            <a:r>
              <a:rPr sz="1200" b="1" i="0">
                <a:solidFill>
                  <a:srgbClr val="1B1B1B"/>
                </a:solidFill>
                <a:latin typeface="Calibri"/>
              </a:rPr>
              <a:t>Keys </a:t>
            </a:r>
            <a:r>
              <a:rPr sz="1200" b="0" i="0">
                <a:solidFill>
                  <a:srgbClr val="595959"/>
                </a:solidFill>
                <a:latin typeface="Calibri"/>
              </a:rPr>
              <a:t>(3)  IDs and split label, not modelled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6739128"/>
            <a:ext cx="12191695" cy="11887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logo.jpg"/>
          <p:cNvPicPr>
            <a:picLocks noChangeAspect="1"/>
          </p:cNvPicPr>
          <p:nvPr/>
        </p:nvPicPr>
        <p:blipFill>
          <a:blip r:embed="rId3"/>
          <a:stretch>
            <a:fillRect/>
          </a:stretch>
        </p:blipFill>
        <p:spPr>
          <a:xfrm>
            <a:off x="0" y="256032"/>
            <a:ext cx="2377440" cy="1143000"/>
          </a:xfrm>
          <a:prstGeom prst="rect">
            <a:avLst/>
          </a:prstGeom>
        </p:spPr>
      </p:pic>
      <p:sp>
        <p:nvSpPr>
          <p:cNvPr id="5" name="TextBox 4"/>
          <p:cNvSpPr txBox="1"/>
          <p:nvPr/>
        </p:nvSpPr>
        <p:spPr>
          <a:xfrm>
            <a:off x="2651760" y="0"/>
            <a:ext cx="9235440" cy="758952"/>
          </a:xfrm>
          <a:prstGeom prst="rect">
            <a:avLst/>
          </a:prstGeom>
          <a:noFill/>
        </p:spPr>
        <p:txBody>
          <a:bodyPr wrap="square" lIns="0" tIns="0" rIns="0" bIns="0" anchor="ctr">
            <a:spAutoFit/>
          </a:bodyPr>
          <a:lstStyle/>
          <a:p>
            <a:r>
              <a:rPr sz="2600" b="1" i="0">
                <a:solidFill>
                  <a:srgbClr val="FFFFFF"/>
                </a:solidFill>
                <a:latin typeface="Cambria"/>
              </a:rPr>
              <a:t>Nine generator settings, three measures</a:t>
            </a:r>
          </a:p>
        </p:txBody>
      </p:sp>
      <p:sp>
        <p:nvSpPr>
          <p:cNvPr id="6" name="TextBox 5"/>
          <p:cNvSpPr txBox="1"/>
          <p:nvPr/>
        </p:nvSpPr>
        <p:spPr>
          <a:xfrm>
            <a:off x="548640" y="6419088"/>
            <a:ext cx="7315200" cy="256032"/>
          </a:xfrm>
          <a:prstGeom prst="rect">
            <a:avLst/>
          </a:prstGeom>
          <a:noFill/>
        </p:spPr>
        <p:txBody>
          <a:bodyPr wrap="square" lIns="0" tIns="0" rIns="0" bIns="0" anchor="ctr">
            <a:spAutoFit/>
          </a:bodyPr>
          <a:lstStyle/>
          <a:p>
            <a:r>
              <a:rPr sz="1100" b="0" i="0">
                <a:solidFill>
                  <a:srgbClr val="595959"/>
                </a:solidFill>
                <a:latin typeface="Calibri"/>
              </a:rPr>
              <a:t>Project Doppel</a:t>
            </a:r>
            <a:r>
              <a:rPr sz="1100" b="0" i="0">
                <a:solidFill>
                  <a:srgbClr val="1B1B1B"/>
                </a:solidFill>
                <a:latin typeface="Calibri"/>
              </a:rPr>
              <a:t>     </a:t>
            </a:r>
            <a:r>
              <a:rPr sz="1100" b="0" i="0">
                <a:solidFill>
                  <a:srgbClr val="A6A6A6"/>
                </a:solidFill>
                <a:latin typeface="Calibri"/>
              </a:rPr>
              <a:t>Problem</a:t>
            </a:r>
            <a:r>
              <a:rPr sz="1100" b="0" i="0">
                <a:solidFill>
                  <a:srgbClr val="BFBFBF"/>
                </a:solidFill>
                <a:latin typeface="Calibri"/>
              </a:rPr>
              <a:t>  ·  </a:t>
            </a:r>
            <a:r>
              <a:rPr sz="1100" b="1" i="0">
                <a:solidFill>
                  <a:srgbClr val="C00000"/>
                </a:solidFill>
                <a:latin typeface="Calibri"/>
              </a:rPr>
              <a:t>Method</a:t>
            </a:r>
            <a:r>
              <a:rPr sz="1100" b="0" i="0">
                <a:solidFill>
                  <a:srgbClr val="BFBFBF"/>
                </a:solidFill>
                <a:latin typeface="Calibri"/>
              </a:rPr>
              <a:t>  ·  </a:t>
            </a:r>
            <a:r>
              <a:rPr sz="1100" b="0" i="0">
                <a:solidFill>
                  <a:srgbClr val="A6A6A6"/>
                </a:solidFill>
                <a:latin typeface="Calibri"/>
              </a:rPr>
              <a:t>Results</a:t>
            </a:r>
            <a:r>
              <a:rPr sz="1100" b="0" i="0">
                <a:solidFill>
                  <a:srgbClr val="BFBFBF"/>
                </a:solidFill>
                <a:latin typeface="Calibri"/>
              </a:rPr>
              <a:t>  ·  </a:t>
            </a:r>
            <a:r>
              <a:rPr sz="1100" b="0" i="0">
                <a:solidFill>
                  <a:srgbClr val="A6A6A6"/>
                </a:solidFill>
                <a:latin typeface="Calibri"/>
              </a:rPr>
              <a:t>Close</a:t>
            </a:r>
          </a:p>
        </p:txBody>
      </p:sp>
      <p:sp>
        <p:nvSpPr>
          <p:cNvPr id="7" name="TextBox 6"/>
          <p:cNvSpPr txBox="1"/>
          <p:nvPr/>
        </p:nvSpPr>
        <p:spPr>
          <a:xfrm>
            <a:off x="10881360" y="6419088"/>
            <a:ext cx="758952" cy="256032"/>
          </a:xfrm>
          <a:prstGeom prst="rect">
            <a:avLst/>
          </a:prstGeom>
          <a:noFill/>
        </p:spPr>
        <p:txBody>
          <a:bodyPr wrap="square" lIns="0" tIns="0" rIns="0" bIns="0" anchor="ctr">
            <a:spAutoFit/>
          </a:bodyPr>
          <a:lstStyle/>
          <a:p>
            <a:pPr algn="r"/>
            <a:r>
              <a:rPr sz="1100" b="0" i="0">
                <a:solidFill>
                  <a:srgbClr val="595959"/>
                </a:solidFill>
                <a:latin typeface="Calibri"/>
              </a:rPr>
              <a:t>4 / 10</a:t>
            </a:r>
          </a:p>
        </p:txBody>
      </p:sp>
      <p:cxnSp>
        <p:nvCxnSpPr>
          <p:cNvPr id="8" name="Connector 7"/>
          <p:cNvCxnSpPr/>
          <p:nvPr/>
        </p:nvCxnSpPr>
        <p:spPr>
          <a:xfrm>
            <a:off x="731520" y="1810512"/>
            <a:ext cx="10698480" cy="0"/>
          </a:xfrm>
          <a:prstGeom prst="line">
            <a:avLst/>
          </a:prstGeom>
          <a:ln w="19050">
            <a:solidFill>
              <a:srgbClr val="A6A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8640" y="1481328"/>
            <a:ext cx="4572000" cy="256032"/>
          </a:xfrm>
          <a:prstGeom prst="rect">
            <a:avLst/>
          </a:prstGeom>
          <a:noFill/>
        </p:spPr>
        <p:txBody>
          <a:bodyPr wrap="square" lIns="0" tIns="0" rIns="0" bIns="0" anchor="t">
            <a:spAutoFit/>
          </a:bodyPr>
          <a:lstStyle/>
          <a:p>
            <a:r>
              <a:rPr sz="1150" b="0" i="1">
                <a:solidFill>
                  <a:srgbClr val="595959"/>
                </a:solidFill>
                <a:latin typeface="Calibri"/>
              </a:rPr>
              <a:t>less capacity: cannot memorise</a:t>
            </a:r>
          </a:p>
        </p:txBody>
      </p:sp>
      <p:sp>
        <p:nvSpPr>
          <p:cNvPr id="10" name="TextBox 9"/>
          <p:cNvSpPr txBox="1"/>
          <p:nvPr/>
        </p:nvSpPr>
        <p:spPr>
          <a:xfrm>
            <a:off x="7040880" y="1481328"/>
            <a:ext cx="4572000" cy="256032"/>
          </a:xfrm>
          <a:prstGeom prst="rect">
            <a:avLst/>
          </a:prstGeom>
          <a:noFill/>
        </p:spPr>
        <p:txBody>
          <a:bodyPr wrap="square" lIns="0" tIns="0" rIns="0" bIns="0" anchor="t">
            <a:spAutoFit/>
          </a:bodyPr>
          <a:lstStyle/>
          <a:p>
            <a:pPr algn="r"/>
            <a:r>
              <a:rPr sz="1150" b="0" i="1">
                <a:solidFill>
                  <a:srgbClr val="595959"/>
                </a:solidFill>
                <a:latin typeface="Calibri"/>
              </a:rPr>
              <a:t>more capacity: can memorise</a:t>
            </a:r>
          </a:p>
        </p:txBody>
      </p:sp>
      <p:sp>
        <p:nvSpPr>
          <p:cNvPr id="11" name="Oval 10"/>
          <p:cNvSpPr/>
          <p:nvPr/>
        </p:nvSpPr>
        <p:spPr>
          <a:xfrm>
            <a:off x="1527048" y="1737360"/>
            <a:ext cx="146304" cy="146304"/>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548640" y="2057400"/>
            <a:ext cx="2103120" cy="4572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48640" y="2157984"/>
            <a:ext cx="2103120" cy="329184"/>
          </a:xfrm>
          <a:prstGeom prst="rect">
            <a:avLst/>
          </a:prstGeom>
          <a:noFill/>
        </p:spPr>
        <p:txBody>
          <a:bodyPr wrap="square" lIns="0" tIns="0" rIns="0" bIns="0" anchor="t">
            <a:spAutoFit/>
          </a:bodyPr>
          <a:lstStyle/>
          <a:p>
            <a:r>
              <a:rPr sz="1600" b="1" i="0">
                <a:solidFill>
                  <a:srgbClr val="1B1B1B"/>
                </a:solidFill>
                <a:latin typeface="Cambria"/>
              </a:rPr>
              <a:t>Floor</a:t>
            </a:r>
          </a:p>
        </p:txBody>
      </p:sp>
      <p:sp>
        <p:nvSpPr>
          <p:cNvPr id="14" name="TextBox 13"/>
          <p:cNvSpPr txBox="1"/>
          <p:nvPr/>
        </p:nvSpPr>
        <p:spPr>
          <a:xfrm>
            <a:off x="548640" y="2487168"/>
            <a:ext cx="2103120" cy="256032"/>
          </a:xfrm>
          <a:prstGeom prst="rect">
            <a:avLst/>
          </a:prstGeom>
          <a:noFill/>
        </p:spPr>
        <p:txBody>
          <a:bodyPr wrap="square" lIns="0" tIns="0" rIns="0" bIns="0" anchor="t">
            <a:spAutoFit/>
          </a:bodyPr>
          <a:lstStyle/>
          <a:p>
            <a:r>
              <a:rPr sz="1100" b="1" i="0">
                <a:solidFill>
                  <a:srgbClr val="8A8A8A"/>
                </a:solidFill>
                <a:latin typeface="Calibri"/>
              </a:rPr>
              <a:t>1 setting  ·  baseline</a:t>
            </a:r>
          </a:p>
        </p:txBody>
      </p:sp>
      <p:sp>
        <p:nvSpPr>
          <p:cNvPr id="15" name="TextBox 14"/>
          <p:cNvSpPr txBox="1"/>
          <p:nvPr/>
        </p:nvSpPr>
        <p:spPr>
          <a:xfrm>
            <a:off x="548640" y="2743200"/>
            <a:ext cx="2103120" cy="640080"/>
          </a:xfrm>
          <a:prstGeom prst="rect">
            <a:avLst/>
          </a:prstGeom>
          <a:noFill/>
        </p:spPr>
        <p:txBody>
          <a:bodyPr wrap="square" lIns="0" tIns="0" rIns="0" bIns="0" anchor="t">
            <a:spAutoFit/>
          </a:bodyPr>
          <a:lstStyle/>
          <a:p>
            <a:pPr>
              <a:lnSpc>
                <a:spcPct val="100000"/>
              </a:lnSpc>
            </a:pPr>
            <a:r>
              <a:rPr sz="1150" b="0" i="0">
                <a:solidFill>
                  <a:srgbClr val="595959"/>
                </a:solidFill>
                <a:latin typeface="Calibri"/>
              </a:rPr>
              <a:t>Samples each column on its own: no relationships at all.</a:t>
            </a:r>
          </a:p>
        </p:txBody>
      </p:sp>
      <p:sp>
        <p:nvSpPr>
          <p:cNvPr id="16" name="Rectangle 15"/>
          <p:cNvSpPr/>
          <p:nvPr/>
        </p:nvSpPr>
        <p:spPr>
          <a:xfrm>
            <a:off x="548640" y="3401568"/>
            <a:ext cx="2103120" cy="292608"/>
          </a:xfrm>
          <a:prstGeom prst="rect">
            <a:avLst/>
          </a:prstGeom>
          <a:solidFill>
            <a:srgbClr val="F6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40080" y="3401568"/>
            <a:ext cx="1965960" cy="292608"/>
          </a:xfrm>
          <a:prstGeom prst="rect">
            <a:avLst/>
          </a:prstGeom>
          <a:noFill/>
        </p:spPr>
        <p:txBody>
          <a:bodyPr wrap="square" lIns="0" tIns="0" rIns="0" bIns="0" anchor="ctr">
            <a:spAutoFit/>
          </a:bodyPr>
          <a:lstStyle/>
          <a:p>
            <a:r>
              <a:rPr sz="1050" b="0" i="0">
                <a:solidFill>
                  <a:srgbClr val="1B1B1B"/>
                </a:solidFill>
                <a:latin typeface="Calibri"/>
              </a:rPr>
              <a:t>independent columns</a:t>
            </a:r>
          </a:p>
        </p:txBody>
      </p:sp>
      <p:sp>
        <p:nvSpPr>
          <p:cNvPr id="18" name="Oval 17"/>
          <p:cNvSpPr/>
          <p:nvPr/>
        </p:nvSpPr>
        <p:spPr>
          <a:xfrm>
            <a:off x="3785616" y="1737360"/>
            <a:ext cx="146304" cy="146304"/>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2807208" y="2057400"/>
            <a:ext cx="2103120" cy="457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2807208" y="2157984"/>
            <a:ext cx="2103120" cy="329184"/>
          </a:xfrm>
          <a:prstGeom prst="rect">
            <a:avLst/>
          </a:prstGeom>
          <a:noFill/>
        </p:spPr>
        <p:txBody>
          <a:bodyPr wrap="square" lIns="0" tIns="0" rIns="0" bIns="0" anchor="t">
            <a:spAutoFit/>
          </a:bodyPr>
          <a:lstStyle/>
          <a:p>
            <a:r>
              <a:rPr sz="1600" b="1" i="0">
                <a:solidFill>
                  <a:srgbClr val="1B1B1B"/>
                </a:solidFill>
                <a:latin typeface="Cambria"/>
              </a:rPr>
              <a:t>Gaussian copula</a:t>
            </a:r>
          </a:p>
        </p:txBody>
      </p:sp>
      <p:sp>
        <p:nvSpPr>
          <p:cNvPr id="21" name="TextBox 20"/>
          <p:cNvSpPr txBox="1"/>
          <p:nvPr/>
        </p:nvSpPr>
        <p:spPr>
          <a:xfrm>
            <a:off x="2807208" y="2487168"/>
            <a:ext cx="2103120" cy="256032"/>
          </a:xfrm>
          <a:prstGeom prst="rect">
            <a:avLst/>
          </a:prstGeom>
          <a:noFill/>
        </p:spPr>
        <p:txBody>
          <a:bodyPr wrap="square" lIns="0" tIns="0" rIns="0" bIns="0" anchor="t">
            <a:spAutoFit/>
          </a:bodyPr>
          <a:lstStyle/>
          <a:p>
            <a:r>
              <a:rPr sz="1100" b="1" i="0">
                <a:solidFill>
                  <a:srgbClr val="1E2761"/>
                </a:solidFill>
                <a:latin typeface="Calibri"/>
              </a:rPr>
              <a:t>3 settings  ·  statistical [3, 4]</a:t>
            </a:r>
          </a:p>
        </p:txBody>
      </p:sp>
      <p:sp>
        <p:nvSpPr>
          <p:cNvPr id="22" name="TextBox 21"/>
          <p:cNvSpPr txBox="1"/>
          <p:nvPr/>
        </p:nvSpPr>
        <p:spPr>
          <a:xfrm>
            <a:off x="2807208" y="2743200"/>
            <a:ext cx="2103120" cy="640080"/>
          </a:xfrm>
          <a:prstGeom prst="rect">
            <a:avLst/>
          </a:prstGeom>
          <a:noFill/>
        </p:spPr>
        <p:txBody>
          <a:bodyPr wrap="square" lIns="0" tIns="0" rIns="0" bIns="0" anchor="t">
            <a:spAutoFit/>
          </a:bodyPr>
          <a:lstStyle/>
          <a:p>
            <a:pPr>
              <a:lnSpc>
                <a:spcPct val="100000"/>
              </a:lnSpc>
            </a:pPr>
            <a:r>
              <a:rPr sz="1150" b="0" i="0">
                <a:solidFill>
                  <a:srgbClr val="595959"/>
                </a:solidFill>
                <a:latin typeface="Calibri"/>
              </a:rPr>
              <a:t>Column distributions joined by one correlation matrix, shrunk toward independence.</a:t>
            </a:r>
          </a:p>
        </p:txBody>
      </p:sp>
      <p:sp>
        <p:nvSpPr>
          <p:cNvPr id="23" name="Rectangle 22"/>
          <p:cNvSpPr/>
          <p:nvPr/>
        </p:nvSpPr>
        <p:spPr>
          <a:xfrm>
            <a:off x="2807208" y="3401568"/>
            <a:ext cx="2103120" cy="292608"/>
          </a:xfrm>
          <a:prstGeom prst="rect">
            <a:avLst/>
          </a:prstGeom>
          <a:solidFill>
            <a:srgbClr val="F6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2898648" y="3401568"/>
            <a:ext cx="1965960" cy="292608"/>
          </a:xfrm>
          <a:prstGeom prst="rect">
            <a:avLst/>
          </a:prstGeom>
          <a:noFill/>
        </p:spPr>
        <p:txBody>
          <a:bodyPr wrap="square" lIns="0" tIns="0" rIns="0" bIns="0" anchor="ctr">
            <a:spAutoFit/>
          </a:bodyPr>
          <a:lstStyle/>
          <a:p>
            <a:r>
              <a:rPr sz="1050" b="1" i="0">
                <a:solidFill>
                  <a:srgbClr val="1B1B1B"/>
                </a:solidFill>
                <a:latin typeface="Calibri"/>
              </a:rPr>
              <a:t>shrink 0.668 · 0.25 · 0.10 (tuned)</a:t>
            </a:r>
          </a:p>
        </p:txBody>
      </p:sp>
      <p:sp>
        <p:nvSpPr>
          <p:cNvPr id="25" name="Oval 24"/>
          <p:cNvSpPr/>
          <p:nvPr/>
        </p:nvSpPr>
        <p:spPr>
          <a:xfrm>
            <a:off x="6044183" y="1737360"/>
            <a:ext cx="146304" cy="146304"/>
          </a:xfrm>
          <a:prstGeom prst="ellipse">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5065776" y="2057400"/>
            <a:ext cx="2103120" cy="45720"/>
          </a:xfrm>
          <a:prstGeom prst="rect">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065776" y="2157984"/>
            <a:ext cx="2103120" cy="329184"/>
          </a:xfrm>
          <a:prstGeom prst="rect">
            <a:avLst/>
          </a:prstGeom>
          <a:noFill/>
        </p:spPr>
        <p:txBody>
          <a:bodyPr wrap="square" lIns="0" tIns="0" rIns="0" bIns="0" anchor="t">
            <a:spAutoFit/>
          </a:bodyPr>
          <a:lstStyle/>
          <a:p>
            <a:r>
              <a:rPr sz="1600" b="1" i="0">
                <a:solidFill>
                  <a:srgbClr val="1B1B1B"/>
                </a:solidFill>
                <a:latin typeface="Cambria"/>
              </a:rPr>
              <a:t>CTGAN</a:t>
            </a:r>
          </a:p>
        </p:txBody>
      </p:sp>
      <p:sp>
        <p:nvSpPr>
          <p:cNvPr id="28" name="TextBox 27"/>
          <p:cNvSpPr txBox="1"/>
          <p:nvPr/>
        </p:nvSpPr>
        <p:spPr>
          <a:xfrm>
            <a:off x="5065776" y="2487168"/>
            <a:ext cx="2103120" cy="256032"/>
          </a:xfrm>
          <a:prstGeom prst="rect">
            <a:avLst/>
          </a:prstGeom>
          <a:noFill/>
        </p:spPr>
        <p:txBody>
          <a:bodyPr wrap="square" lIns="0" tIns="0" rIns="0" bIns="0" anchor="t">
            <a:spAutoFit/>
          </a:bodyPr>
          <a:lstStyle/>
          <a:p>
            <a:r>
              <a:rPr sz="1100" b="1" i="0">
                <a:solidFill>
                  <a:srgbClr val="4F67A0"/>
                </a:solidFill>
                <a:latin typeface="Calibri"/>
              </a:rPr>
              <a:t>2 settings  ·  GAN [5]</a:t>
            </a:r>
          </a:p>
        </p:txBody>
      </p:sp>
      <p:sp>
        <p:nvSpPr>
          <p:cNvPr id="29" name="TextBox 28"/>
          <p:cNvSpPr txBox="1"/>
          <p:nvPr/>
        </p:nvSpPr>
        <p:spPr>
          <a:xfrm>
            <a:off x="5065776" y="2743200"/>
            <a:ext cx="2103120" cy="640080"/>
          </a:xfrm>
          <a:prstGeom prst="rect">
            <a:avLst/>
          </a:prstGeom>
          <a:noFill/>
        </p:spPr>
        <p:txBody>
          <a:bodyPr wrap="square" lIns="0" tIns="0" rIns="0" bIns="0" anchor="t">
            <a:spAutoFit/>
          </a:bodyPr>
          <a:lstStyle/>
          <a:p>
            <a:pPr>
              <a:lnSpc>
                <a:spcPct val="100000"/>
              </a:lnSpc>
            </a:pPr>
            <a:r>
              <a:rPr sz="1150" b="0" i="0">
                <a:solidFill>
                  <a:srgbClr val="595959"/>
                </a:solidFill>
                <a:latin typeface="Calibri"/>
              </a:rPr>
              <a:t>A generator and a critic trained against each other.</a:t>
            </a:r>
          </a:p>
        </p:txBody>
      </p:sp>
      <p:sp>
        <p:nvSpPr>
          <p:cNvPr id="30" name="Rectangle 29"/>
          <p:cNvSpPr/>
          <p:nvPr/>
        </p:nvSpPr>
        <p:spPr>
          <a:xfrm>
            <a:off x="5065776" y="3401568"/>
            <a:ext cx="2103120" cy="292608"/>
          </a:xfrm>
          <a:prstGeom prst="rect">
            <a:avLst/>
          </a:prstGeom>
          <a:solidFill>
            <a:srgbClr val="F6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157216" y="3401568"/>
            <a:ext cx="1965960" cy="292608"/>
          </a:xfrm>
          <a:prstGeom prst="rect">
            <a:avLst/>
          </a:prstGeom>
          <a:noFill/>
        </p:spPr>
        <p:txBody>
          <a:bodyPr wrap="square" lIns="0" tIns="0" rIns="0" bIns="0" anchor="ctr">
            <a:spAutoFit/>
          </a:bodyPr>
          <a:lstStyle/>
          <a:p>
            <a:r>
              <a:rPr sz="1050" b="0" i="0">
                <a:solidFill>
                  <a:srgbClr val="1B1B1B"/>
                </a:solidFill>
                <a:latin typeface="Calibri"/>
              </a:rPr>
              <a:t>default · small 64×64 network</a:t>
            </a:r>
          </a:p>
        </p:txBody>
      </p:sp>
      <p:sp>
        <p:nvSpPr>
          <p:cNvPr id="32" name="Oval 31"/>
          <p:cNvSpPr/>
          <p:nvPr/>
        </p:nvSpPr>
        <p:spPr>
          <a:xfrm>
            <a:off x="8302752" y="1737360"/>
            <a:ext cx="146304" cy="146304"/>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7324344" y="2057400"/>
            <a:ext cx="2103120" cy="4572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7324344" y="2157984"/>
            <a:ext cx="2103120" cy="329184"/>
          </a:xfrm>
          <a:prstGeom prst="rect">
            <a:avLst/>
          </a:prstGeom>
          <a:noFill/>
        </p:spPr>
        <p:txBody>
          <a:bodyPr wrap="square" lIns="0" tIns="0" rIns="0" bIns="0" anchor="t">
            <a:spAutoFit/>
          </a:bodyPr>
          <a:lstStyle/>
          <a:p>
            <a:r>
              <a:rPr sz="1600" b="1" i="0">
                <a:solidFill>
                  <a:srgbClr val="1B1B1B"/>
                </a:solidFill>
                <a:latin typeface="Cambria"/>
              </a:rPr>
              <a:t>TVAE</a:t>
            </a:r>
          </a:p>
        </p:txBody>
      </p:sp>
      <p:sp>
        <p:nvSpPr>
          <p:cNvPr id="35" name="TextBox 34"/>
          <p:cNvSpPr txBox="1"/>
          <p:nvPr/>
        </p:nvSpPr>
        <p:spPr>
          <a:xfrm>
            <a:off x="7324344" y="2487168"/>
            <a:ext cx="2103120" cy="256032"/>
          </a:xfrm>
          <a:prstGeom prst="rect">
            <a:avLst/>
          </a:prstGeom>
          <a:noFill/>
        </p:spPr>
        <p:txBody>
          <a:bodyPr wrap="square" lIns="0" tIns="0" rIns="0" bIns="0" anchor="t">
            <a:spAutoFit/>
          </a:bodyPr>
          <a:lstStyle/>
          <a:p>
            <a:r>
              <a:rPr sz="1100" b="1" i="0">
                <a:solidFill>
                  <a:srgbClr val="2A9D8F"/>
                </a:solidFill>
                <a:latin typeface="Calibri"/>
              </a:rPr>
              <a:t>1 setting  ·  autoencoder [5]</a:t>
            </a:r>
          </a:p>
        </p:txBody>
      </p:sp>
      <p:sp>
        <p:nvSpPr>
          <p:cNvPr id="36" name="TextBox 35"/>
          <p:cNvSpPr txBox="1"/>
          <p:nvPr/>
        </p:nvSpPr>
        <p:spPr>
          <a:xfrm>
            <a:off x="7324344" y="2743200"/>
            <a:ext cx="2103120" cy="640080"/>
          </a:xfrm>
          <a:prstGeom prst="rect">
            <a:avLst/>
          </a:prstGeom>
          <a:noFill/>
        </p:spPr>
        <p:txBody>
          <a:bodyPr wrap="square" lIns="0" tIns="0" rIns="0" bIns="0" anchor="t">
            <a:spAutoFit/>
          </a:bodyPr>
          <a:lstStyle/>
          <a:p>
            <a:pPr>
              <a:lnSpc>
                <a:spcPct val="100000"/>
              </a:lnSpc>
            </a:pPr>
            <a:r>
              <a:rPr sz="1150" b="0" i="0">
                <a:solidFill>
                  <a:srgbClr val="595959"/>
                </a:solidFill>
                <a:latin typeface="Calibri"/>
              </a:rPr>
              <a:t>Decodes new rows from a learned code; known to copy rows.</a:t>
            </a:r>
          </a:p>
        </p:txBody>
      </p:sp>
      <p:sp>
        <p:nvSpPr>
          <p:cNvPr id="37" name="Rectangle 36"/>
          <p:cNvSpPr/>
          <p:nvPr/>
        </p:nvSpPr>
        <p:spPr>
          <a:xfrm>
            <a:off x="7324344" y="3401568"/>
            <a:ext cx="2103120" cy="292608"/>
          </a:xfrm>
          <a:prstGeom prst="rect">
            <a:avLst/>
          </a:prstGeom>
          <a:solidFill>
            <a:srgbClr val="F6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415783" y="3401568"/>
            <a:ext cx="1965960" cy="292608"/>
          </a:xfrm>
          <a:prstGeom prst="rect">
            <a:avLst/>
          </a:prstGeom>
          <a:noFill/>
        </p:spPr>
        <p:txBody>
          <a:bodyPr wrap="square" lIns="0" tIns="0" rIns="0" bIns="0" anchor="ctr">
            <a:spAutoFit/>
          </a:bodyPr>
          <a:lstStyle/>
          <a:p>
            <a:r>
              <a:rPr sz="1050" b="0" i="0">
                <a:solidFill>
                  <a:srgbClr val="1B1B1B"/>
                </a:solidFill>
                <a:latin typeface="Calibri"/>
              </a:rPr>
              <a:t>300 epochs</a:t>
            </a:r>
          </a:p>
        </p:txBody>
      </p:sp>
      <p:sp>
        <p:nvSpPr>
          <p:cNvPr id="39" name="Oval 38"/>
          <p:cNvSpPr/>
          <p:nvPr/>
        </p:nvSpPr>
        <p:spPr>
          <a:xfrm>
            <a:off x="10561320" y="1737360"/>
            <a:ext cx="146304" cy="146304"/>
          </a:xfrm>
          <a:prstGeom prst="ellipse">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Rectangle 39"/>
          <p:cNvSpPr/>
          <p:nvPr/>
        </p:nvSpPr>
        <p:spPr>
          <a:xfrm>
            <a:off x="9582912" y="2057400"/>
            <a:ext cx="2103120" cy="457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9582912" y="2157984"/>
            <a:ext cx="2103120" cy="329184"/>
          </a:xfrm>
          <a:prstGeom prst="rect">
            <a:avLst/>
          </a:prstGeom>
          <a:noFill/>
        </p:spPr>
        <p:txBody>
          <a:bodyPr wrap="square" lIns="0" tIns="0" rIns="0" bIns="0" anchor="t">
            <a:spAutoFit/>
          </a:bodyPr>
          <a:lstStyle/>
          <a:p>
            <a:r>
              <a:rPr sz="1600" b="1" i="0">
                <a:solidFill>
                  <a:srgbClr val="1B1B1B"/>
                </a:solidFill>
                <a:latin typeface="Cambria"/>
              </a:rPr>
              <a:t>Tabular diffusion</a:t>
            </a:r>
          </a:p>
        </p:txBody>
      </p:sp>
      <p:sp>
        <p:nvSpPr>
          <p:cNvPr id="42" name="TextBox 41"/>
          <p:cNvSpPr txBox="1"/>
          <p:nvPr/>
        </p:nvSpPr>
        <p:spPr>
          <a:xfrm>
            <a:off x="9582912" y="2487168"/>
            <a:ext cx="2103120" cy="256032"/>
          </a:xfrm>
          <a:prstGeom prst="rect">
            <a:avLst/>
          </a:prstGeom>
          <a:noFill/>
        </p:spPr>
        <p:txBody>
          <a:bodyPr wrap="square" lIns="0" tIns="0" rIns="0" bIns="0" anchor="t">
            <a:spAutoFit/>
          </a:bodyPr>
          <a:lstStyle/>
          <a:p>
            <a:r>
              <a:rPr sz="1100" b="1" i="0">
                <a:solidFill>
                  <a:srgbClr val="E08A00"/>
                </a:solidFill>
                <a:latin typeface="Calibri"/>
              </a:rPr>
              <a:t>2 settings  ·  TabDDPM-style [6]</a:t>
            </a:r>
          </a:p>
        </p:txBody>
      </p:sp>
      <p:sp>
        <p:nvSpPr>
          <p:cNvPr id="43" name="TextBox 42"/>
          <p:cNvSpPr txBox="1"/>
          <p:nvPr/>
        </p:nvSpPr>
        <p:spPr>
          <a:xfrm>
            <a:off x="9582912" y="2743200"/>
            <a:ext cx="2103120" cy="640080"/>
          </a:xfrm>
          <a:prstGeom prst="rect">
            <a:avLst/>
          </a:prstGeom>
          <a:noFill/>
        </p:spPr>
        <p:txBody>
          <a:bodyPr wrap="square" lIns="0" tIns="0" rIns="0" bIns="0" anchor="t">
            <a:spAutoFit/>
          </a:bodyPr>
          <a:lstStyle/>
          <a:p>
            <a:pPr>
              <a:lnSpc>
                <a:spcPct val="100000"/>
              </a:lnSpc>
            </a:pPr>
            <a:r>
              <a:rPr sz="1150" b="0" i="0">
                <a:solidFill>
                  <a:srgbClr val="595959"/>
                </a:solidFill>
                <a:latin typeface="Calibri"/>
              </a:rPr>
              <a:t>Learns to turn noise back into rows, step by step.</a:t>
            </a:r>
          </a:p>
        </p:txBody>
      </p:sp>
      <p:sp>
        <p:nvSpPr>
          <p:cNvPr id="44" name="Rectangle 43"/>
          <p:cNvSpPr/>
          <p:nvPr/>
        </p:nvSpPr>
        <p:spPr>
          <a:xfrm>
            <a:off x="9582912" y="3401568"/>
            <a:ext cx="2103120" cy="292608"/>
          </a:xfrm>
          <a:prstGeom prst="rect">
            <a:avLst/>
          </a:prstGeom>
          <a:solidFill>
            <a:srgbClr val="F6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9674352" y="3401568"/>
            <a:ext cx="1965960" cy="292608"/>
          </a:xfrm>
          <a:prstGeom prst="rect">
            <a:avLst/>
          </a:prstGeom>
          <a:noFill/>
        </p:spPr>
        <p:txBody>
          <a:bodyPr wrap="square" lIns="0" tIns="0" rIns="0" bIns="0" anchor="ctr">
            <a:spAutoFit/>
          </a:bodyPr>
          <a:lstStyle/>
          <a:p>
            <a:r>
              <a:rPr sz="1050" b="0" i="0">
                <a:solidFill>
                  <a:srgbClr val="1B1B1B"/>
                </a:solidFill>
                <a:latin typeface="Calibri"/>
              </a:rPr>
              <a:t>3,000 steps · 1,000 + dropout</a:t>
            </a:r>
          </a:p>
        </p:txBody>
      </p:sp>
      <p:cxnSp>
        <p:nvCxnSpPr>
          <p:cNvPr id="46" name="Connector 45"/>
          <p:cNvCxnSpPr/>
          <p:nvPr/>
        </p:nvCxnSpPr>
        <p:spPr>
          <a:xfrm>
            <a:off x="548640" y="3931920"/>
            <a:ext cx="1109167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48640" y="4069080"/>
            <a:ext cx="3520440" cy="384048"/>
          </a:xfrm>
          <a:prstGeom prst="rect">
            <a:avLst/>
          </a:prstGeom>
          <a:noFill/>
        </p:spPr>
        <p:txBody>
          <a:bodyPr wrap="square" lIns="0" tIns="0" rIns="0" bIns="0" anchor="ctr">
            <a:spAutoFit/>
          </a:bodyPr>
          <a:lstStyle/>
          <a:p>
            <a:r>
              <a:rPr sz="2000" b="1" i="0">
                <a:solidFill>
                  <a:srgbClr val="1E2761"/>
                </a:solidFill>
                <a:latin typeface="Cambria"/>
              </a:rPr>
              <a:t>Fidelity</a:t>
            </a:r>
            <a:r>
              <a:rPr sz="1300" b="0" i="1">
                <a:solidFill>
                  <a:srgbClr val="1B1B1B"/>
                </a:solidFill>
                <a:latin typeface="Calibri"/>
              </a:rPr>
              <a:t>   Does it look real?</a:t>
            </a:r>
          </a:p>
        </p:txBody>
      </p:sp>
      <p:sp>
        <p:nvSpPr>
          <p:cNvPr id="48" name="TextBox 47"/>
          <p:cNvSpPr txBox="1"/>
          <p:nvPr/>
        </p:nvSpPr>
        <p:spPr>
          <a:xfrm>
            <a:off x="548640" y="4553712"/>
            <a:ext cx="3520440" cy="1097280"/>
          </a:xfrm>
          <a:prstGeom prst="rect">
            <a:avLst/>
          </a:prstGeom>
          <a:noFill/>
        </p:spPr>
        <p:txBody>
          <a:bodyPr wrap="square" lIns="0" tIns="0" rIns="0" bIns="0" anchor="t">
            <a:spAutoFit/>
          </a:bodyPr>
          <a:lstStyle/>
          <a:p>
            <a:pPr>
              <a:lnSpc>
                <a:spcPct val="104000"/>
              </a:lnSpc>
            </a:pPr>
            <a:r>
              <a:rPr sz="1250" b="0" i="0">
                <a:solidFill>
                  <a:srgbClr val="595959"/>
                </a:solidFill>
                <a:latin typeface="Calibri"/>
              </a:rPr>
              <a:t>Jensen–Shannon distance per column [12], and the gap between real and synthetic correlation matrices.</a:t>
            </a:r>
          </a:p>
        </p:txBody>
      </p:sp>
      <p:sp>
        <p:nvSpPr>
          <p:cNvPr id="49" name="TextBox 48"/>
          <p:cNvSpPr txBox="1"/>
          <p:nvPr/>
        </p:nvSpPr>
        <p:spPr>
          <a:xfrm>
            <a:off x="548640" y="5440680"/>
            <a:ext cx="3520440" cy="256032"/>
          </a:xfrm>
          <a:prstGeom prst="rect">
            <a:avLst/>
          </a:prstGeom>
          <a:noFill/>
        </p:spPr>
        <p:txBody>
          <a:bodyPr wrap="square" lIns="0" tIns="0" rIns="0" bIns="0" anchor="t">
            <a:spAutoFit/>
          </a:bodyPr>
          <a:lstStyle/>
          <a:p>
            <a:r>
              <a:rPr sz="1150" b="1" i="0">
                <a:solidFill>
                  <a:srgbClr val="1E2761"/>
                </a:solidFill>
                <a:latin typeface="Calibri"/>
              </a:rPr>
              <a:t>lower is better  ·  0 = identical</a:t>
            </a:r>
          </a:p>
        </p:txBody>
      </p:sp>
      <p:sp>
        <p:nvSpPr>
          <p:cNvPr id="50" name="TextBox 49"/>
          <p:cNvSpPr txBox="1"/>
          <p:nvPr/>
        </p:nvSpPr>
        <p:spPr>
          <a:xfrm>
            <a:off x="4334255" y="4069080"/>
            <a:ext cx="3520440" cy="384048"/>
          </a:xfrm>
          <a:prstGeom prst="rect">
            <a:avLst/>
          </a:prstGeom>
          <a:noFill/>
        </p:spPr>
        <p:txBody>
          <a:bodyPr wrap="square" lIns="0" tIns="0" rIns="0" bIns="0" anchor="ctr">
            <a:spAutoFit/>
          </a:bodyPr>
          <a:lstStyle/>
          <a:p>
            <a:r>
              <a:rPr sz="2000" b="1" i="0">
                <a:solidFill>
                  <a:srgbClr val="2A9D8F"/>
                </a:solidFill>
                <a:latin typeface="Cambria"/>
              </a:rPr>
              <a:t>Utility</a:t>
            </a:r>
            <a:r>
              <a:rPr sz="1300" b="0" i="1">
                <a:solidFill>
                  <a:srgbClr val="1B1B1B"/>
                </a:solidFill>
                <a:latin typeface="Calibri"/>
              </a:rPr>
              <a:t>   Does a model trained on it work?</a:t>
            </a:r>
          </a:p>
        </p:txBody>
      </p:sp>
      <p:sp>
        <p:nvSpPr>
          <p:cNvPr id="51" name="TextBox 50"/>
          <p:cNvSpPr txBox="1"/>
          <p:nvPr/>
        </p:nvSpPr>
        <p:spPr>
          <a:xfrm>
            <a:off x="4334255" y="4553712"/>
            <a:ext cx="3520440" cy="1097280"/>
          </a:xfrm>
          <a:prstGeom prst="rect">
            <a:avLst/>
          </a:prstGeom>
          <a:noFill/>
        </p:spPr>
        <p:txBody>
          <a:bodyPr wrap="square" lIns="0" tIns="0" rIns="0" bIns="0" anchor="t">
            <a:spAutoFit/>
          </a:bodyPr>
          <a:lstStyle/>
          <a:p>
            <a:pPr>
              <a:lnSpc>
                <a:spcPct val="104000"/>
              </a:lnSpc>
            </a:pPr>
            <a:r>
              <a:rPr sz="1250" b="0" i="0">
                <a:solidFill>
                  <a:srgbClr val="595959"/>
                </a:solidFill>
                <a:latin typeface="Calibri"/>
              </a:rPr>
              <a:t>Train LR and RF on synthetic data, predict in-hospital death for 35 real held-out admissions. Trained on real data: 0.658.</a:t>
            </a:r>
          </a:p>
        </p:txBody>
      </p:sp>
      <p:sp>
        <p:nvSpPr>
          <p:cNvPr id="52" name="TextBox 51"/>
          <p:cNvSpPr txBox="1"/>
          <p:nvPr/>
        </p:nvSpPr>
        <p:spPr>
          <a:xfrm>
            <a:off x="4334255" y="5440680"/>
            <a:ext cx="3520440" cy="256032"/>
          </a:xfrm>
          <a:prstGeom prst="rect">
            <a:avLst/>
          </a:prstGeom>
          <a:noFill/>
        </p:spPr>
        <p:txBody>
          <a:bodyPr wrap="square" lIns="0" tIns="0" rIns="0" bIns="0" anchor="t">
            <a:spAutoFit/>
          </a:bodyPr>
          <a:lstStyle/>
          <a:p>
            <a:r>
              <a:rPr sz="1150" b="1" i="0">
                <a:solidFill>
                  <a:srgbClr val="2A9D8F"/>
                </a:solidFill>
                <a:latin typeface="Calibri"/>
              </a:rPr>
              <a:t>AUROC, higher is better</a:t>
            </a:r>
          </a:p>
        </p:txBody>
      </p:sp>
      <p:sp>
        <p:nvSpPr>
          <p:cNvPr id="53" name="TextBox 52"/>
          <p:cNvSpPr txBox="1"/>
          <p:nvPr/>
        </p:nvSpPr>
        <p:spPr>
          <a:xfrm>
            <a:off x="8119871" y="4069080"/>
            <a:ext cx="3520440" cy="384048"/>
          </a:xfrm>
          <a:prstGeom prst="rect">
            <a:avLst/>
          </a:prstGeom>
          <a:noFill/>
        </p:spPr>
        <p:txBody>
          <a:bodyPr wrap="square" lIns="0" tIns="0" rIns="0" bIns="0" anchor="ctr">
            <a:spAutoFit/>
          </a:bodyPr>
          <a:lstStyle/>
          <a:p>
            <a:r>
              <a:rPr sz="2000" b="1" i="0">
                <a:solidFill>
                  <a:srgbClr val="C00000"/>
                </a:solidFill>
                <a:latin typeface="Cambria"/>
              </a:rPr>
              <a:t>Privacy</a:t>
            </a:r>
            <a:r>
              <a:rPr sz="1300" b="0" i="1">
                <a:solidFill>
                  <a:srgbClr val="1B1B1B"/>
                </a:solidFill>
                <a:latin typeface="Calibri"/>
              </a:rPr>
              <a:t>   Can an attacker find its patients?</a:t>
            </a:r>
          </a:p>
        </p:txBody>
      </p:sp>
      <p:sp>
        <p:nvSpPr>
          <p:cNvPr id="54" name="TextBox 53"/>
          <p:cNvSpPr txBox="1"/>
          <p:nvPr/>
        </p:nvSpPr>
        <p:spPr>
          <a:xfrm>
            <a:off x="8119871" y="4553712"/>
            <a:ext cx="3520440" cy="1097280"/>
          </a:xfrm>
          <a:prstGeom prst="rect">
            <a:avLst/>
          </a:prstGeom>
          <a:noFill/>
        </p:spPr>
        <p:txBody>
          <a:bodyPr wrap="square" lIns="0" tIns="0" rIns="0" bIns="0" anchor="t">
            <a:spAutoFit/>
          </a:bodyPr>
          <a:lstStyle/>
          <a:p>
            <a:pPr>
              <a:lnSpc>
                <a:spcPct val="104000"/>
              </a:lnSpc>
            </a:pPr>
            <a:r>
              <a:rPr sz="1250" b="0" i="0">
                <a:solidFill>
                  <a:srgbClr val="595959"/>
                </a:solidFill>
                <a:latin typeface="Calibri"/>
              </a:rPr>
              <a:t>Membership attack [7]: real records close to a synthetic one are guessed to be members. Three distances, the worst one counts.</a:t>
            </a:r>
          </a:p>
        </p:txBody>
      </p:sp>
      <p:sp>
        <p:nvSpPr>
          <p:cNvPr id="55" name="TextBox 54"/>
          <p:cNvSpPr txBox="1"/>
          <p:nvPr/>
        </p:nvSpPr>
        <p:spPr>
          <a:xfrm>
            <a:off x="8119871" y="5440680"/>
            <a:ext cx="3520440" cy="256032"/>
          </a:xfrm>
          <a:prstGeom prst="rect">
            <a:avLst/>
          </a:prstGeom>
          <a:noFill/>
        </p:spPr>
        <p:txBody>
          <a:bodyPr wrap="square" lIns="0" tIns="0" rIns="0" bIns="0" anchor="t">
            <a:spAutoFit/>
          </a:bodyPr>
          <a:lstStyle/>
          <a:p>
            <a:r>
              <a:rPr sz="1150" b="1" i="0">
                <a:solidFill>
                  <a:srgbClr val="C00000"/>
                </a:solidFill>
                <a:latin typeface="Calibri"/>
              </a:rPr>
              <a:t>AUROC, lower is better  ·  0.5 = chance</a:t>
            </a:r>
          </a:p>
        </p:txBody>
      </p:sp>
      <p:cxnSp>
        <p:nvCxnSpPr>
          <p:cNvPr id="56" name="Connector 55"/>
          <p:cNvCxnSpPr/>
          <p:nvPr/>
        </p:nvCxnSpPr>
        <p:spPr>
          <a:xfrm>
            <a:off x="548640" y="5833872"/>
            <a:ext cx="1109167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548640" y="5943600"/>
            <a:ext cx="11064240" cy="274320"/>
          </a:xfrm>
          <a:prstGeom prst="rect">
            <a:avLst/>
          </a:prstGeom>
          <a:noFill/>
        </p:spPr>
        <p:txBody>
          <a:bodyPr wrap="square" lIns="0" tIns="0" rIns="0" bIns="0" anchor="t">
            <a:spAutoFit/>
          </a:bodyPr>
          <a:lstStyle/>
          <a:p>
            <a:r>
              <a:rPr sz="1100" b="0" i="1">
                <a:solidFill>
                  <a:srgbClr val="8C8C8C"/>
                </a:solidFill>
                <a:latin typeface="Calibri"/>
              </a:rPr>
              <a:t>Every generator fits a 110-column encoding of only 94 rows. Results are means of 20 seeds; differences tested with Welch’s t-test.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6739128"/>
            <a:ext cx="12191695" cy="11887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logo.jpg"/>
          <p:cNvPicPr>
            <a:picLocks noChangeAspect="1"/>
          </p:cNvPicPr>
          <p:nvPr/>
        </p:nvPicPr>
        <p:blipFill>
          <a:blip r:embed="rId3"/>
          <a:stretch>
            <a:fillRect/>
          </a:stretch>
        </p:blipFill>
        <p:spPr>
          <a:xfrm>
            <a:off x="0" y="256032"/>
            <a:ext cx="2377440" cy="1143000"/>
          </a:xfrm>
          <a:prstGeom prst="rect">
            <a:avLst/>
          </a:prstGeom>
        </p:spPr>
      </p:pic>
      <p:sp>
        <p:nvSpPr>
          <p:cNvPr id="5" name="TextBox 4"/>
          <p:cNvSpPr txBox="1"/>
          <p:nvPr/>
        </p:nvSpPr>
        <p:spPr>
          <a:xfrm>
            <a:off x="2651760" y="0"/>
            <a:ext cx="9235440" cy="758952"/>
          </a:xfrm>
          <a:prstGeom prst="rect">
            <a:avLst/>
          </a:prstGeom>
          <a:noFill/>
        </p:spPr>
        <p:txBody>
          <a:bodyPr wrap="square" lIns="0" tIns="0" rIns="0" bIns="0" anchor="ctr">
            <a:spAutoFit/>
          </a:bodyPr>
          <a:lstStyle/>
          <a:p>
            <a:r>
              <a:rPr sz="2600" b="1" i="0">
                <a:solidFill>
                  <a:srgbClr val="FFFFFF"/>
                </a:solidFill>
                <a:latin typeface="Cambria"/>
              </a:rPr>
              <a:t>Result 1  ·  Columns are easy; relationships are not</a:t>
            </a:r>
          </a:p>
        </p:txBody>
      </p:sp>
      <p:sp>
        <p:nvSpPr>
          <p:cNvPr id="6" name="TextBox 5"/>
          <p:cNvSpPr txBox="1"/>
          <p:nvPr/>
        </p:nvSpPr>
        <p:spPr>
          <a:xfrm>
            <a:off x="548640" y="6419088"/>
            <a:ext cx="7315200" cy="256032"/>
          </a:xfrm>
          <a:prstGeom prst="rect">
            <a:avLst/>
          </a:prstGeom>
          <a:noFill/>
        </p:spPr>
        <p:txBody>
          <a:bodyPr wrap="square" lIns="0" tIns="0" rIns="0" bIns="0" anchor="ctr">
            <a:spAutoFit/>
          </a:bodyPr>
          <a:lstStyle/>
          <a:p>
            <a:r>
              <a:rPr sz="1100" b="0" i="0">
                <a:solidFill>
                  <a:srgbClr val="595959"/>
                </a:solidFill>
                <a:latin typeface="Calibri"/>
              </a:rPr>
              <a:t>Project Doppel</a:t>
            </a:r>
            <a:r>
              <a:rPr sz="1100" b="0" i="0">
                <a:solidFill>
                  <a:srgbClr val="1B1B1B"/>
                </a:solidFill>
                <a:latin typeface="Calibri"/>
              </a:rPr>
              <a:t>     </a:t>
            </a:r>
            <a:r>
              <a:rPr sz="1100" b="0" i="0">
                <a:solidFill>
                  <a:srgbClr val="A6A6A6"/>
                </a:solidFill>
                <a:latin typeface="Calibri"/>
              </a:rPr>
              <a:t>Problem</a:t>
            </a:r>
            <a:r>
              <a:rPr sz="1100" b="0" i="0">
                <a:solidFill>
                  <a:srgbClr val="BFBFBF"/>
                </a:solidFill>
                <a:latin typeface="Calibri"/>
              </a:rPr>
              <a:t>  ·  </a:t>
            </a:r>
            <a:r>
              <a:rPr sz="1100" b="0" i="0">
                <a:solidFill>
                  <a:srgbClr val="A6A6A6"/>
                </a:solidFill>
                <a:latin typeface="Calibri"/>
              </a:rPr>
              <a:t>Method</a:t>
            </a:r>
            <a:r>
              <a:rPr sz="1100" b="0" i="0">
                <a:solidFill>
                  <a:srgbClr val="BFBFBF"/>
                </a:solidFill>
                <a:latin typeface="Calibri"/>
              </a:rPr>
              <a:t>  ·  </a:t>
            </a:r>
            <a:r>
              <a:rPr sz="1100" b="1" i="0">
                <a:solidFill>
                  <a:srgbClr val="C00000"/>
                </a:solidFill>
                <a:latin typeface="Calibri"/>
              </a:rPr>
              <a:t>Results</a:t>
            </a:r>
            <a:r>
              <a:rPr sz="1100" b="0" i="0">
                <a:solidFill>
                  <a:srgbClr val="BFBFBF"/>
                </a:solidFill>
                <a:latin typeface="Calibri"/>
              </a:rPr>
              <a:t>  ·  </a:t>
            </a:r>
            <a:r>
              <a:rPr sz="1100" b="0" i="0">
                <a:solidFill>
                  <a:srgbClr val="A6A6A6"/>
                </a:solidFill>
                <a:latin typeface="Calibri"/>
              </a:rPr>
              <a:t>Close</a:t>
            </a:r>
          </a:p>
        </p:txBody>
      </p:sp>
      <p:sp>
        <p:nvSpPr>
          <p:cNvPr id="7" name="TextBox 6"/>
          <p:cNvSpPr txBox="1"/>
          <p:nvPr/>
        </p:nvSpPr>
        <p:spPr>
          <a:xfrm>
            <a:off x="10881360" y="6419088"/>
            <a:ext cx="758952" cy="256032"/>
          </a:xfrm>
          <a:prstGeom prst="rect">
            <a:avLst/>
          </a:prstGeom>
          <a:noFill/>
        </p:spPr>
        <p:txBody>
          <a:bodyPr wrap="square" lIns="0" tIns="0" rIns="0" bIns="0" anchor="ctr">
            <a:spAutoFit/>
          </a:bodyPr>
          <a:lstStyle/>
          <a:p>
            <a:pPr algn="r"/>
            <a:r>
              <a:rPr sz="1100" b="0" i="0">
                <a:solidFill>
                  <a:srgbClr val="595959"/>
                </a:solidFill>
                <a:latin typeface="Calibri"/>
              </a:rPr>
              <a:t>5 / 10</a:t>
            </a:r>
          </a:p>
        </p:txBody>
      </p:sp>
      <p:sp>
        <p:nvSpPr>
          <p:cNvPr id="8" name="TextBox 7"/>
          <p:cNvSpPr txBox="1"/>
          <p:nvPr/>
        </p:nvSpPr>
        <p:spPr>
          <a:xfrm>
            <a:off x="548640" y="1554480"/>
            <a:ext cx="5394960" cy="320040"/>
          </a:xfrm>
          <a:prstGeom prst="rect">
            <a:avLst/>
          </a:prstGeom>
          <a:noFill/>
        </p:spPr>
        <p:txBody>
          <a:bodyPr wrap="square" lIns="0" tIns="0" rIns="0" bIns="0" anchor="t">
            <a:spAutoFit/>
          </a:bodyPr>
          <a:lstStyle/>
          <a:p>
            <a:r>
              <a:rPr sz="1400" b="1" i="0">
                <a:solidFill>
                  <a:srgbClr val="1B1B1B"/>
                </a:solidFill>
                <a:latin typeface="Calibri"/>
              </a:rPr>
              <a:t>Column shapes</a:t>
            </a:r>
            <a:r>
              <a:rPr sz="1400" b="0" i="0">
                <a:solidFill>
                  <a:srgbClr val="595959"/>
                </a:solidFill>
                <a:latin typeface="Calibri"/>
              </a:rPr>
              <a:t>   Jensen–Shannon distance, lower is better</a:t>
            </a:r>
          </a:p>
        </p:txBody>
      </p:sp>
      <p:graphicFrame>
        <p:nvGraphicFramePr>
          <p:cNvPr id="9" name="Chart 8"/>
          <p:cNvGraphicFramePr>
            <a:graphicFrameLocks noGrp="1"/>
          </p:cNvGraphicFramePr>
          <p:nvPr/>
        </p:nvGraphicFramePr>
        <p:xfrm>
          <a:off x="411480" y="1874519"/>
          <a:ext cx="5486400" cy="370332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p:cNvSpPr txBox="1"/>
          <p:nvPr/>
        </p:nvSpPr>
        <p:spPr>
          <a:xfrm>
            <a:off x="6263640" y="1554480"/>
            <a:ext cx="5394960" cy="320040"/>
          </a:xfrm>
          <a:prstGeom prst="rect">
            <a:avLst/>
          </a:prstGeom>
          <a:noFill/>
        </p:spPr>
        <p:txBody>
          <a:bodyPr wrap="square" lIns="0" tIns="0" rIns="0" bIns="0" anchor="t">
            <a:spAutoFit/>
          </a:bodyPr>
          <a:lstStyle/>
          <a:p>
            <a:r>
              <a:rPr sz="1400" b="1" i="0">
                <a:solidFill>
                  <a:srgbClr val="1B1B1B"/>
                </a:solidFill>
                <a:latin typeface="Calibri"/>
              </a:rPr>
              <a:t>Relationships between columns</a:t>
            </a:r>
            <a:r>
              <a:rPr sz="1400" b="0" i="0">
                <a:solidFill>
                  <a:srgbClr val="595959"/>
                </a:solidFill>
                <a:latin typeface="Calibri"/>
              </a:rPr>
              <a:t>   correlation error, lower is better</a:t>
            </a:r>
          </a:p>
        </p:txBody>
      </p:sp>
      <p:graphicFrame>
        <p:nvGraphicFramePr>
          <p:cNvPr id="11" name="Chart 10"/>
          <p:cNvGraphicFramePr>
            <a:graphicFrameLocks noGrp="1"/>
          </p:cNvGraphicFramePr>
          <p:nvPr/>
        </p:nvGraphicFramePr>
        <p:xfrm>
          <a:off x="6126480" y="1874519"/>
          <a:ext cx="5486400" cy="3703320"/>
        </p:xfrm>
        <a:graphic>
          <a:graphicData uri="http://schemas.openxmlformats.org/drawingml/2006/chart">
            <c:chart xmlns:c="http://schemas.openxmlformats.org/drawingml/2006/chart" xmlns:r="http://schemas.openxmlformats.org/officeDocument/2006/relationships" r:id="rId5"/>
          </a:graphicData>
        </a:graphic>
      </p:graphicFrame>
      <p:sp>
        <p:nvSpPr>
          <p:cNvPr id="12" name="Rectangle 11"/>
          <p:cNvSpPr/>
          <p:nvPr/>
        </p:nvSpPr>
        <p:spPr>
          <a:xfrm>
            <a:off x="548640" y="5650992"/>
            <a:ext cx="11091672" cy="640080"/>
          </a:xfrm>
          <a:prstGeom prst="rect">
            <a:avLst/>
          </a:prstGeom>
          <a:solidFill>
            <a:srgbClr val="EE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77240" y="5650992"/>
            <a:ext cx="10698480" cy="640080"/>
          </a:xfrm>
          <a:prstGeom prst="rect">
            <a:avLst/>
          </a:prstGeom>
          <a:noFill/>
        </p:spPr>
        <p:txBody>
          <a:bodyPr wrap="square" lIns="0" tIns="0" rIns="0" bIns="0" anchor="ctr">
            <a:spAutoFit/>
          </a:bodyPr>
          <a:lstStyle/>
          <a:p>
            <a:pPr>
              <a:lnSpc>
                <a:spcPct val="102000"/>
              </a:lnSpc>
            </a:pPr>
            <a:r>
              <a:rPr sz="1250" b="1" i="0">
                <a:solidFill>
                  <a:srgbClr val="1B1B1B"/>
                </a:solidFill>
                <a:latin typeface="Calibri"/>
              </a:rPr>
              <a:t>The floor matches every column </a:t>
            </a:r>
            <a:r>
              <a:rPr sz="1250" b="0" i="0">
                <a:solidFill>
                  <a:srgbClr val="595959"/>
                </a:solidFill>
                <a:latin typeface="Calibri"/>
              </a:rPr>
              <a:t>(0.016) but keeps no relationships (0.163). The tuned copula keeps the most (0.102). Every neural setting is 2.6 to 23× further from the real columns, and CTGAN and plain diffusion (0.165 to 0.174) keep fewer relationships than the floor.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6739128"/>
            <a:ext cx="12191695" cy="11887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logo.jpg"/>
          <p:cNvPicPr>
            <a:picLocks noChangeAspect="1"/>
          </p:cNvPicPr>
          <p:nvPr/>
        </p:nvPicPr>
        <p:blipFill>
          <a:blip r:embed="rId3"/>
          <a:stretch>
            <a:fillRect/>
          </a:stretch>
        </p:blipFill>
        <p:spPr>
          <a:xfrm>
            <a:off x="0" y="256032"/>
            <a:ext cx="2377440" cy="1143000"/>
          </a:xfrm>
          <a:prstGeom prst="rect">
            <a:avLst/>
          </a:prstGeom>
        </p:spPr>
      </p:pic>
      <p:sp>
        <p:nvSpPr>
          <p:cNvPr id="5" name="TextBox 4"/>
          <p:cNvSpPr txBox="1"/>
          <p:nvPr/>
        </p:nvSpPr>
        <p:spPr>
          <a:xfrm>
            <a:off x="2651760" y="0"/>
            <a:ext cx="9235440" cy="758952"/>
          </a:xfrm>
          <a:prstGeom prst="rect">
            <a:avLst/>
          </a:prstGeom>
          <a:noFill/>
        </p:spPr>
        <p:txBody>
          <a:bodyPr wrap="square" lIns="0" tIns="0" rIns="0" bIns="0" anchor="ctr">
            <a:spAutoFit/>
          </a:bodyPr>
          <a:lstStyle/>
          <a:p>
            <a:r>
              <a:rPr sz="2600" b="1" i="0">
                <a:solidFill>
                  <a:srgbClr val="FFFFFF"/>
                </a:solidFill>
                <a:latin typeface="Cambria"/>
              </a:rPr>
              <a:t>Result 2  ·  The top scores come from distorted data</a:t>
            </a:r>
          </a:p>
        </p:txBody>
      </p:sp>
      <p:sp>
        <p:nvSpPr>
          <p:cNvPr id="6" name="TextBox 5"/>
          <p:cNvSpPr txBox="1"/>
          <p:nvPr/>
        </p:nvSpPr>
        <p:spPr>
          <a:xfrm>
            <a:off x="548640" y="6419088"/>
            <a:ext cx="7315200" cy="256032"/>
          </a:xfrm>
          <a:prstGeom prst="rect">
            <a:avLst/>
          </a:prstGeom>
          <a:noFill/>
        </p:spPr>
        <p:txBody>
          <a:bodyPr wrap="square" lIns="0" tIns="0" rIns="0" bIns="0" anchor="ctr">
            <a:spAutoFit/>
          </a:bodyPr>
          <a:lstStyle/>
          <a:p>
            <a:r>
              <a:rPr sz="1100" b="0" i="0">
                <a:solidFill>
                  <a:srgbClr val="595959"/>
                </a:solidFill>
                <a:latin typeface="Calibri"/>
              </a:rPr>
              <a:t>Project Doppel</a:t>
            </a:r>
            <a:r>
              <a:rPr sz="1100" b="0" i="0">
                <a:solidFill>
                  <a:srgbClr val="1B1B1B"/>
                </a:solidFill>
                <a:latin typeface="Calibri"/>
              </a:rPr>
              <a:t>     </a:t>
            </a:r>
            <a:r>
              <a:rPr sz="1100" b="0" i="0">
                <a:solidFill>
                  <a:srgbClr val="A6A6A6"/>
                </a:solidFill>
                <a:latin typeface="Calibri"/>
              </a:rPr>
              <a:t>Problem</a:t>
            </a:r>
            <a:r>
              <a:rPr sz="1100" b="0" i="0">
                <a:solidFill>
                  <a:srgbClr val="BFBFBF"/>
                </a:solidFill>
                <a:latin typeface="Calibri"/>
              </a:rPr>
              <a:t>  ·  </a:t>
            </a:r>
            <a:r>
              <a:rPr sz="1100" b="0" i="0">
                <a:solidFill>
                  <a:srgbClr val="A6A6A6"/>
                </a:solidFill>
                <a:latin typeface="Calibri"/>
              </a:rPr>
              <a:t>Method</a:t>
            </a:r>
            <a:r>
              <a:rPr sz="1100" b="0" i="0">
                <a:solidFill>
                  <a:srgbClr val="BFBFBF"/>
                </a:solidFill>
                <a:latin typeface="Calibri"/>
              </a:rPr>
              <a:t>  ·  </a:t>
            </a:r>
            <a:r>
              <a:rPr sz="1100" b="1" i="0">
                <a:solidFill>
                  <a:srgbClr val="C00000"/>
                </a:solidFill>
                <a:latin typeface="Calibri"/>
              </a:rPr>
              <a:t>Results</a:t>
            </a:r>
            <a:r>
              <a:rPr sz="1100" b="0" i="0">
                <a:solidFill>
                  <a:srgbClr val="BFBFBF"/>
                </a:solidFill>
                <a:latin typeface="Calibri"/>
              </a:rPr>
              <a:t>  ·  </a:t>
            </a:r>
            <a:r>
              <a:rPr sz="1100" b="0" i="0">
                <a:solidFill>
                  <a:srgbClr val="A6A6A6"/>
                </a:solidFill>
                <a:latin typeface="Calibri"/>
              </a:rPr>
              <a:t>Close</a:t>
            </a:r>
          </a:p>
        </p:txBody>
      </p:sp>
      <p:sp>
        <p:nvSpPr>
          <p:cNvPr id="7" name="TextBox 6"/>
          <p:cNvSpPr txBox="1"/>
          <p:nvPr/>
        </p:nvSpPr>
        <p:spPr>
          <a:xfrm>
            <a:off x="10881360" y="6419088"/>
            <a:ext cx="758952" cy="256032"/>
          </a:xfrm>
          <a:prstGeom prst="rect">
            <a:avLst/>
          </a:prstGeom>
          <a:noFill/>
        </p:spPr>
        <p:txBody>
          <a:bodyPr wrap="square" lIns="0" tIns="0" rIns="0" bIns="0" anchor="ctr">
            <a:spAutoFit/>
          </a:bodyPr>
          <a:lstStyle/>
          <a:p>
            <a:pPr algn="r"/>
            <a:r>
              <a:rPr sz="1100" b="0" i="0">
                <a:solidFill>
                  <a:srgbClr val="595959"/>
                </a:solidFill>
                <a:latin typeface="Calibri"/>
              </a:rPr>
              <a:t>6 / 10</a:t>
            </a:r>
          </a:p>
        </p:txBody>
      </p:sp>
      <p:pic>
        <p:nvPicPr>
          <p:cNvPr id="8" name="Picture 7" descr="fig_utility.png"/>
          <p:cNvPicPr>
            <a:picLocks noChangeAspect="1"/>
          </p:cNvPicPr>
          <p:nvPr/>
        </p:nvPicPr>
        <p:blipFill>
          <a:blip r:embed="rId4"/>
          <a:stretch>
            <a:fillRect/>
          </a:stretch>
        </p:blipFill>
        <p:spPr>
          <a:xfrm>
            <a:off x="1325880" y="1572768"/>
            <a:ext cx="9555480" cy="4000375"/>
          </a:xfrm>
          <a:prstGeom prst="rect">
            <a:avLst/>
          </a:prstGeom>
        </p:spPr>
      </p:pic>
      <p:sp>
        <p:nvSpPr>
          <p:cNvPr id="9" name="Rectangle 8"/>
          <p:cNvSpPr/>
          <p:nvPr/>
        </p:nvSpPr>
        <p:spPr>
          <a:xfrm>
            <a:off x="548640" y="5715000"/>
            <a:ext cx="11091672" cy="594360"/>
          </a:xfrm>
          <a:prstGeom prst="rect">
            <a:avLst/>
          </a:prstGeom>
          <a:solidFill>
            <a:srgbClr val="EE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7240" y="5715000"/>
            <a:ext cx="10698480" cy="594360"/>
          </a:xfrm>
          <a:prstGeom prst="rect">
            <a:avLst/>
          </a:prstGeom>
          <a:noFill/>
        </p:spPr>
        <p:txBody>
          <a:bodyPr wrap="square" lIns="0" tIns="0" rIns="0" bIns="0" anchor="ctr">
            <a:spAutoFit/>
          </a:bodyPr>
          <a:lstStyle/>
          <a:p>
            <a:pPr>
              <a:lnSpc>
                <a:spcPct val="102000"/>
              </a:lnSpc>
            </a:pPr>
            <a:r>
              <a:rPr sz="1250" b="1" i="0">
                <a:solidFill>
                  <a:srgbClr val="1B1B1B"/>
                </a:solidFill>
                <a:latin typeface="Calibri"/>
              </a:rPr>
              <a:t>Read with care: </a:t>
            </a:r>
            <a:r>
              <a:rPr sz="1250" b="0" i="0">
                <a:solidFill>
                  <a:srgbClr val="595959"/>
                </a:solidFill>
                <a:latin typeface="Calibri"/>
              </a:rPr>
              <a:t>with 6 held-out deaths, scores swing ±0.08 to 0.18 between seeds. The tuned copula (0.686) is statistically level with TVAE (p = 0.68) and diffusion (p = 0.08), and it is the only one of them that keeps the real death rate.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6739128"/>
            <a:ext cx="12191695" cy="11887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logo.jpg"/>
          <p:cNvPicPr>
            <a:picLocks noChangeAspect="1"/>
          </p:cNvPicPr>
          <p:nvPr/>
        </p:nvPicPr>
        <p:blipFill>
          <a:blip r:embed="rId3"/>
          <a:stretch>
            <a:fillRect/>
          </a:stretch>
        </p:blipFill>
        <p:spPr>
          <a:xfrm>
            <a:off x="0" y="256032"/>
            <a:ext cx="2377440" cy="1143000"/>
          </a:xfrm>
          <a:prstGeom prst="rect">
            <a:avLst/>
          </a:prstGeom>
        </p:spPr>
      </p:pic>
      <p:sp>
        <p:nvSpPr>
          <p:cNvPr id="5" name="TextBox 4"/>
          <p:cNvSpPr txBox="1"/>
          <p:nvPr/>
        </p:nvSpPr>
        <p:spPr>
          <a:xfrm>
            <a:off x="2651760" y="0"/>
            <a:ext cx="9235440" cy="758952"/>
          </a:xfrm>
          <a:prstGeom prst="rect">
            <a:avLst/>
          </a:prstGeom>
          <a:noFill/>
        </p:spPr>
        <p:txBody>
          <a:bodyPr wrap="square" lIns="0" tIns="0" rIns="0" bIns="0" anchor="ctr">
            <a:spAutoFit/>
          </a:bodyPr>
          <a:lstStyle/>
          <a:p>
            <a:r>
              <a:rPr sz="2600" b="1" i="0">
                <a:solidFill>
                  <a:srgbClr val="FFFFFF"/>
                </a:solidFill>
                <a:latin typeface="Cambria"/>
              </a:rPr>
              <a:t>Result 3  ·  Diffusion gives away its training records</a:t>
            </a:r>
          </a:p>
        </p:txBody>
      </p:sp>
      <p:sp>
        <p:nvSpPr>
          <p:cNvPr id="6" name="TextBox 5"/>
          <p:cNvSpPr txBox="1"/>
          <p:nvPr/>
        </p:nvSpPr>
        <p:spPr>
          <a:xfrm>
            <a:off x="548640" y="6419088"/>
            <a:ext cx="7315200" cy="256032"/>
          </a:xfrm>
          <a:prstGeom prst="rect">
            <a:avLst/>
          </a:prstGeom>
          <a:noFill/>
        </p:spPr>
        <p:txBody>
          <a:bodyPr wrap="square" lIns="0" tIns="0" rIns="0" bIns="0" anchor="ctr">
            <a:spAutoFit/>
          </a:bodyPr>
          <a:lstStyle/>
          <a:p>
            <a:r>
              <a:rPr sz="1100" b="0" i="0">
                <a:solidFill>
                  <a:srgbClr val="595959"/>
                </a:solidFill>
                <a:latin typeface="Calibri"/>
              </a:rPr>
              <a:t>Project Doppel</a:t>
            </a:r>
            <a:r>
              <a:rPr sz="1100" b="0" i="0">
                <a:solidFill>
                  <a:srgbClr val="1B1B1B"/>
                </a:solidFill>
                <a:latin typeface="Calibri"/>
              </a:rPr>
              <a:t>     </a:t>
            </a:r>
            <a:r>
              <a:rPr sz="1100" b="0" i="0">
                <a:solidFill>
                  <a:srgbClr val="A6A6A6"/>
                </a:solidFill>
                <a:latin typeface="Calibri"/>
              </a:rPr>
              <a:t>Problem</a:t>
            </a:r>
            <a:r>
              <a:rPr sz="1100" b="0" i="0">
                <a:solidFill>
                  <a:srgbClr val="BFBFBF"/>
                </a:solidFill>
                <a:latin typeface="Calibri"/>
              </a:rPr>
              <a:t>  ·  </a:t>
            </a:r>
            <a:r>
              <a:rPr sz="1100" b="0" i="0">
                <a:solidFill>
                  <a:srgbClr val="A6A6A6"/>
                </a:solidFill>
                <a:latin typeface="Calibri"/>
              </a:rPr>
              <a:t>Method</a:t>
            </a:r>
            <a:r>
              <a:rPr sz="1100" b="0" i="0">
                <a:solidFill>
                  <a:srgbClr val="BFBFBF"/>
                </a:solidFill>
                <a:latin typeface="Calibri"/>
              </a:rPr>
              <a:t>  ·  </a:t>
            </a:r>
            <a:r>
              <a:rPr sz="1100" b="1" i="0">
                <a:solidFill>
                  <a:srgbClr val="C00000"/>
                </a:solidFill>
                <a:latin typeface="Calibri"/>
              </a:rPr>
              <a:t>Results</a:t>
            </a:r>
            <a:r>
              <a:rPr sz="1100" b="0" i="0">
                <a:solidFill>
                  <a:srgbClr val="BFBFBF"/>
                </a:solidFill>
                <a:latin typeface="Calibri"/>
              </a:rPr>
              <a:t>  ·  </a:t>
            </a:r>
            <a:r>
              <a:rPr sz="1100" b="0" i="0">
                <a:solidFill>
                  <a:srgbClr val="A6A6A6"/>
                </a:solidFill>
                <a:latin typeface="Calibri"/>
              </a:rPr>
              <a:t>Close</a:t>
            </a:r>
          </a:p>
        </p:txBody>
      </p:sp>
      <p:sp>
        <p:nvSpPr>
          <p:cNvPr id="7" name="TextBox 6"/>
          <p:cNvSpPr txBox="1"/>
          <p:nvPr/>
        </p:nvSpPr>
        <p:spPr>
          <a:xfrm>
            <a:off x="10881360" y="6419088"/>
            <a:ext cx="758952" cy="256032"/>
          </a:xfrm>
          <a:prstGeom prst="rect">
            <a:avLst/>
          </a:prstGeom>
          <a:noFill/>
        </p:spPr>
        <p:txBody>
          <a:bodyPr wrap="square" lIns="0" tIns="0" rIns="0" bIns="0" anchor="ctr">
            <a:spAutoFit/>
          </a:bodyPr>
          <a:lstStyle/>
          <a:p>
            <a:pPr algn="r"/>
            <a:r>
              <a:rPr sz="1100" b="0" i="0">
                <a:solidFill>
                  <a:srgbClr val="595959"/>
                </a:solidFill>
                <a:latin typeface="Calibri"/>
              </a:rPr>
              <a:t>7 / 10</a:t>
            </a:r>
          </a:p>
        </p:txBody>
      </p:sp>
      <p:sp>
        <p:nvSpPr>
          <p:cNvPr id="8" name="TextBox 7"/>
          <p:cNvSpPr txBox="1"/>
          <p:nvPr/>
        </p:nvSpPr>
        <p:spPr>
          <a:xfrm>
            <a:off x="548640" y="1508760"/>
            <a:ext cx="4572000" cy="1463040"/>
          </a:xfrm>
          <a:prstGeom prst="rect">
            <a:avLst/>
          </a:prstGeom>
          <a:noFill/>
        </p:spPr>
        <p:txBody>
          <a:bodyPr wrap="square" lIns="0" tIns="0" rIns="0" bIns="0" anchor="ctr">
            <a:spAutoFit/>
          </a:bodyPr>
          <a:lstStyle/>
          <a:p>
            <a:r>
              <a:rPr sz="10800" b="1" i="0">
                <a:solidFill>
                  <a:srgbClr val="E08A00"/>
                </a:solidFill>
                <a:latin typeface="Cambria"/>
              </a:rPr>
              <a:t>36%</a:t>
            </a:r>
          </a:p>
        </p:txBody>
      </p:sp>
      <p:sp>
        <p:nvSpPr>
          <p:cNvPr id="9" name="TextBox 8"/>
          <p:cNvSpPr txBox="1"/>
          <p:nvPr/>
        </p:nvSpPr>
        <p:spPr>
          <a:xfrm>
            <a:off x="548640" y="3017520"/>
            <a:ext cx="4754880" cy="1097280"/>
          </a:xfrm>
          <a:prstGeom prst="rect">
            <a:avLst/>
          </a:prstGeom>
          <a:noFill/>
        </p:spPr>
        <p:txBody>
          <a:bodyPr wrap="square" lIns="0" tIns="0" rIns="0" bIns="0" anchor="t">
            <a:spAutoFit/>
          </a:bodyPr>
          <a:lstStyle/>
          <a:p>
            <a:pPr>
              <a:lnSpc>
                <a:spcPct val="106000"/>
              </a:lnSpc>
            </a:pPr>
            <a:r>
              <a:rPr sz="1600" b="1" i="0">
                <a:solidFill>
                  <a:srgbClr val="1B1B1B"/>
                </a:solidFill>
                <a:latin typeface="Calibri"/>
              </a:rPr>
              <a:t>of the diffusion model’s training records are flagged </a:t>
            </a:r>
            <a:r>
              <a:rPr sz="1600" b="0" i="0">
                <a:solidFill>
                  <a:srgbClr val="595959"/>
                </a:solidFill>
                <a:latin typeface="Calibri"/>
              </a:rPr>
              <a:t>by an attacker allowed only one false alarm per hundred. Random guessing flags 1%.</a:t>
            </a:r>
          </a:p>
        </p:txBody>
      </p:sp>
      <p:sp>
        <p:nvSpPr>
          <p:cNvPr id="10" name="TextBox 9"/>
          <p:cNvSpPr txBox="1"/>
          <p:nvPr/>
        </p:nvSpPr>
        <p:spPr>
          <a:xfrm>
            <a:off x="548640" y="4160520"/>
            <a:ext cx="4754880" cy="640080"/>
          </a:xfrm>
          <a:prstGeom prst="rect">
            <a:avLst/>
          </a:prstGeom>
          <a:noFill/>
        </p:spPr>
        <p:txBody>
          <a:bodyPr wrap="square" lIns="0" tIns="0" rIns="0" bIns="0" anchor="t">
            <a:spAutoFit/>
          </a:bodyPr>
          <a:lstStyle/>
          <a:p>
            <a:pPr>
              <a:lnSpc>
                <a:spcPct val="105000"/>
              </a:lnSpc>
            </a:pPr>
            <a:r>
              <a:rPr sz="1350" b="1" i="0">
                <a:solidFill>
                  <a:srgbClr val="1B1B1B"/>
                </a:solidFill>
                <a:latin typeface="Calibri"/>
              </a:rPr>
              <a:t>Regularizing is not a fix: </a:t>
            </a:r>
            <a:r>
              <a:rPr sz="1350" b="0" i="0">
                <a:solidFill>
                  <a:srgbClr val="595959"/>
                </a:solidFill>
                <a:latin typeface="Calibri"/>
              </a:rPr>
              <a:t>it lowers the rate to 21%, but its synthetic patients die 79% of the time.</a:t>
            </a:r>
          </a:p>
        </p:txBody>
      </p:sp>
      <p:sp>
        <p:nvSpPr>
          <p:cNvPr id="11" name="Rectangle 10"/>
          <p:cNvSpPr/>
          <p:nvPr/>
        </p:nvSpPr>
        <p:spPr>
          <a:xfrm>
            <a:off x="548640" y="4983480"/>
            <a:ext cx="4846320" cy="1097280"/>
          </a:xfrm>
          <a:prstGeom prst="rect">
            <a:avLst/>
          </a:prstGeom>
          <a:solidFill>
            <a:srgbClr val="F6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548640" y="4983480"/>
            <a:ext cx="54864" cy="10972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77240" y="5093208"/>
            <a:ext cx="4572000" cy="274320"/>
          </a:xfrm>
          <a:prstGeom prst="rect">
            <a:avLst/>
          </a:prstGeom>
          <a:noFill/>
        </p:spPr>
        <p:txBody>
          <a:bodyPr wrap="square" lIns="0" tIns="0" rIns="0" bIns="0" anchor="t">
            <a:spAutoFit/>
          </a:bodyPr>
          <a:lstStyle/>
          <a:p>
            <a:r>
              <a:rPr sz="1200" b="1" i="0" spc="200">
                <a:solidFill>
                  <a:srgbClr val="1E2761"/>
                </a:solidFill>
                <a:latin typeface="Calibri"/>
              </a:rPr>
              <a:t>WE TESTED THE ATTACK FIRST</a:t>
            </a:r>
          </a:p>
        </p:txBody>
      </p:sp>
      <p:sp>
        <p:nvSpPr>
          <p:cNvPr id="14" name="TextBox 13"/>
          <p:cNvSpPr txBox="1"/>
          <p:nvPr/>
        </p:nvSpPr>
        <p:spPr>
          <a:xfrm>
            <a:off x="777240" y="5394960"/>
            <a:ext cx="4480560" cy="868680"/>
          </a:xfrm>
          <a:prstGeom prst="rect">
            <a:avLst/>
          </a:prstGeom>
          <a:noFill/>
        </p:spPr>
        <p:txBody>
          <a:bodyPr wrap="square" lIns="0" tIns="0" rIns="0" bIns="0" anchor="t">
            <a:spAutoFit/>
          </a:bodyPr>
          <a:lstStyle/>
          <a:p>
            <a:pPr>
              <a:lnSpc>
                <a:spcPct val="104000"/>
              </a:lnSpc>
            </a:pPr>
            <a:r>
              <a:rPr sz="1200" b="0" i="0">
                <a:solidFill>
                  <a:srgbClr val="1B1B1B"/>
                </a:solidFill>
                <a:latin typeface="Calibri"/>
              </a:rPr>
              <a:t>Releasing unseen real patients scores 0.50 and exact copies 1.00. TVAE, a known copier, ranks above every non-leaking generator (p &lt; 0.001).</a:t>
            </a:r>
          </a:p>
        </p:txBody>
      </p:sp>
      <p:sp>
        <p:nvSpPr>
          <p:cNvPr id="15" name="TextBox 14"/>
          <p:cNvSpPr txBox="1"/>
          <p:nvPr/>
        </p:nvSpPr>
        <p:spPr>
          <a:xfrm>
            <a:off x="5806440" y="1554480"/>
            <a:ext cx="5852160" cy="320040"/>
          </a:xfrm>
          <a:prstGeom prst="rect">
            <a:avLst/>
          </a:prstGeom>
          <a:noFill/>
        </p:spPr>
        <p:txBody>
          <a:bodyPr wrap="square" lIns="0" tIns="0" rIns="0" bIns="0" anchor="t">
            <a:spAutoFit/>
          </a:bodyPr>
          <a:lstStyle/>
          <a:p>
            <a:r>
              <a:rPr sz="1400" b="1" i="0">
                <a:solidFill>
                  <a:srgbClr val="1B1B1B"/>
                </a:solidFill>
                <a:latin typeface="Calibri"/>
              </a:rPr>
              <a:t>Training records flagged at 1% false alarms</a:t>
            </a:r>
            <a:r>
              <a:rPr sz="1400" b="0" i="0">
                <a:solidFill>
                  <a:srgbClr val="595959"/>
                </a:solidFill>
                <a:latin typeface="Calibri"/>
              </a:rPr>
              <a:t>   higher is worse</a:t>
            </a:r>
          </a:p>
        </p:txBody>
      </p:sp>
      <p:graphicFrame>
        <p:nvGraphicFramePr>
          <p:cNvPr id="16" name="Chart 15"/>
          <p:cNvGraphicFramePr>
            <a:graphicFrameLocks noGrp="1"/>
          </p:cNvGraphicFramePr>
          <p:nvPr/>
        </p:nvGraphicFramePr>
        <p:xfrm>
          <a:off x="5669280" y="1874519"/>
          <a:ext cx="5989320" cy="43891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6739128"/>
            <a:ext cx="12191695" cy="11887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logo.jpg"/>
          <p:cNvPicPr>
            <a:picLocks noChangeAspect="1"/>
          </p:cNvPicPr>
          <p:nvPr/>
        </p:nvPicPr>
        <p:blipFill>
          <a:blip r:embed="rId3"/>
          <a:stretch>
            <a:fillRect/>
          </a:stretch>
        </p:blipFill>
        <p:spPr>
          <a:xfrm>
            <a:off x="0" y="256032"/>
            <a:ext cx="2377440" cy="1143000"/>
          </a:xfrm>
          <a:prstGeom prst="rect">
            <a:avLst/>
          </a:prstGeom>
        </p:spPr>
      </p:pic>
      <p:sp>
        <p:nvSpPr>
          <p:cNvPr id="5" name="TextBox 4"/>
          <p:cNvSpPr txBox="1"/>
          <p:nvPr/>
        </p:nvSpPr>
        <p:spPr>
          <a:xfrm>
            <a:off x="2651760" y="0"/>
            <a:ext cx="9235440" cy="758952"/>
          </a:xfrm>
          <a:prstGeom prst="rect">
            <a:avLst/>
          </a:prstGeom>
          <a:noFill/>
        </p:spPr>
        <p:txBody>
          <a:bodyPr wrap="square" lIns="0" tIns="0" rIns="0" bIns="0" anchor="ctr">
            <a:spAutoFit/>
          </a:bodyPr>
          <a:lstStyle/>
          <a:p>
            <a:r>
              <a:rPr sz="2600" b="1" i="0">
                <a:solidFill>
                  <a:srgbClr val="FFFFFF"/>
                </a:solidFill>
                <a:latin typeface="Cambria"/>
              </a:rPr>
              <a:t>Result 4  ·  The tuned copula gives the best balance</a:t>
            </a:r>
          </a:p>
        </p:txBody>
      </p:sp>
      <p:sp>
        <p:nvSpPr>
          <p:cNvPr id="6" name="TextBox 5"/>
          <p:cNvSpPr txBox="1"/>
          <p:nvPr/>
        </p:nvSpPr>
        <p:spPr>
          <a:xfrm>
            <a:off x="548640" y="6419088"/>
            <a:ext cx="7315200" cy="256032"/>
          </a:xfrm>
          <a:prstGeom prst="rect">
            <a:avLst/>
          </a:prstGeom>
          <a:noFill/>
        </p:spPr>
        <p:txBody>
          <a:bodyPr wrap="square" lIns="0" tIns="0" rIns="0" bIns="0" anchor="ctr">
            <a:spAutoFit/>
          </a:bodyPr>
          <a:lstStyle/>
          <a:p>
            <a:r>
              <a:rPr sz="1100" b="0" i="0">
                <a:solidFill>
                  <a:srgbClr val="595959"/>
                </a:solidFill>
                <a:latin typeface="Calibri"/>
              </a:rPr>
              <a:t>Project Doppel</a:t>
            </a:r>
            <a:r>
              <a:rPr sz="1100" b="0" i="0">
                <a:solidFill>
                  <a:srgbClr val="1B1B1B"/>
                </a:solidFill>
                <a:latin typeface="Calibri"/>
              </a:rPr>
              <a:t>     </a:t>
            </a:r>
            <a:r>
              <a:rPr sz="1100" b="0" i="0">
                <a:solidFill>
                  <a:srgbClr val="A6A6A6"/>
                </a:solidFill>
                <a:latin typeface="Calibri"/>
              </a:rPr>
              <a:t>Problem</a:t>
            </a:r>
            <a:r>
              <a:rPr sz="1100" b="0" i="0">
                <a:solidFill>
                  <a:srgbClr val="BFBFBF"/>
                </a:solidFill>
                <a:latin typeface="Calibri"/>
              </a:rPr>
              <a:t>  ·  </a:t>
            </a:r>
            <a:r>
              <a:rPr sz="1100" b="0" i="0">
                <a:solidFill>
                  <a:srgbClr val="A6A6A6"/>
                </a:solidFill>
                <a:latin typeface="Calibri"/>
              </a:rPr>
              <a:t>Method</a:t>
            </a:r>
            <a:r>
              <a:rPr sz="1100" b="0" i="0">
                <a:solidFill>
                  <a:srgbClr val="BFBFBF"/>
                </a:solidFill>
                <a:latin typeface="Calibri"/>
              </a:rPr>
              <a:t>  ·  </a:t>
            </a:r>
            <a:r>
              <a:rPr sz="1100" b="1" i="0">
                <a:solidFill>
                  <a:srgbClr val="C00000"/>
                </a:solidFill>
                <a:latin typeface="Calibri"/>
              </a:rPr>
              <a:t>Results</a:t>
            </a:r>
            <a:r>
              <a:rPr sz="1100" b="0" i="0">
                <a:solidFill>
                  <a:srgbClr val="BFBFBF"/>
                </a:solidFill>
                <a:latin typeface="Calibri"/>
              </a:rPr>
              <a:t>  ·  </a:t>
            </a:r>
            <a:r>
              <a:rPr sz="1100" b="0" i="0">
                <a:solidFill>
                  <a:srgbClr val="A6A6A6"/>
                </a:solidFill>
                <a:latin typeface="Calibri"/>
              </a:rPr>
              <a:t>Close</a:t>
            </a:r>
          </a:p>
        </p:txBody>
      </p:sp>
      <p:sp>
        <p:nvSpPr>
          <p:cNvPr id="7" name="TextBox 6"/>
          <p:cNvSpPr txBox="1"/>
          <p:nvPr/>
        </p:nvSpPr>
        <p:spPr>
          <a:xfrm>
            <a:off x="10881360" y="6419088"/>
            <a:ext cx="758952" cy="256032"/>
          </a:xfrm>
          <a:prstGeom prst="rect">
            <a:avLst/>
          </a:prstGeom>
          <a:noFill/>
        </p:spPr>
        <p:txBody>
          <a:bodyPr wrap="square" lIns="0" tIns="0" rIns="0" bIns="0" anchor="ctr">
            <a:spAutoFit/>
          </a:bodyPr>
          <a:lstStyle/>
          <a:p>
            <a:pPr algn="r"/>
            <a:r>
              <a:rPr sz="1100" b="0" i="0">
                <a:solidFill>
                  <a:srgbClr val="595959"/>
                </a:solidFill>
                <a:latin typeface="Calibri"/>
              </a:rPr>
              <a:t>8 / 10</a:t>
            </a:r>
          </a:p>
        </p:txBody>
      </p:sp>
      <p:pic>
        <p:nvPicPr>
          <p:cNvPr id="8" name="Picture 7" descr="fig_pareto.png"/>
          <p:cNvPicPr>
            <a:picLocks noChangeAspect="1"/>
          </p:cNvPicPr>
          <p:nvPr/>
        </p:nvPicPr>
        <p:blipFill>
          <a:blip r:embed="rId4"/>
          <a:stretch>
            <a:fillRect/>
          </a:stretch>
        </p:blipFill>
        <p:spPr>
          <a:xfrm>
            <a:off x="502920" y="1481328"/>
            <a:ext cx="5806440" cy="4251592"/>
          </a:xfrm>
          <a:prstGeom prst="rect">
            <a:avLst/>
          </a:prstGeom>
        </p:spPr>
      </p:pic>
      <p:sp>
        <p:nvSpPr>
          <p:cNvPr id="9" name="TextBox 8"/>
          <p:cNvSpPr txBox="1"/>
          <p:nvPr/>
        </p:nvSpPr>
        <p:spPr>
          <a:xfrm>
            <a:off x="548640" y="5833872"/>
            <a:ext cx="5760720" cy="457200"/>
          </a:xfrm>
          <a:prstGeom prst="rect">
            <a:avLst/>
          </a:prstGeom>
          <a:noFill/>
        </p:spPr>
        <p:txBody>
          <a:bodyPr wrap="square" lIns="0" tIns="0" rIns="0" bIns="0" anchor="t">
            <a:spAutoFit/>
          </a:bodyPr>
          <a:lstStyle/>
          <a:p>
            <a:pPr>
              <a:lnSpc>
                <a:spcPct val="102000"/>
              </a:lnSpc>
            </a:pPr>
            <a:r>
              <a:rPr sz="1150" b="1" i="0">
                <a:solidFill>
                  <a:srgbClr val="1B1B1B"/>
                </a:solidFill>
                <a:latin typeface="Calibri"/>
              </a:rPr>
              <a:t>Nothing sits in the ideal corner. </a:t>
            </a:r>
            <a:r>
              <a:rPr sz="1150" b="0" i="0">
                <a:solidFill>
                  <a:srgbClr val="595959"/>
                </a:solidFill>
                <a:latin typeface="Calibri"/>
              </a:rPr>
              <a:t>8 of 9 settings are on the three-way Pareto frontier; without the utility axis, TVAE and both diffusion models never are.</a:t>
            </a:r>
          </a:p>
        </p:txBody>
      </p:sp>
      <p:sp>
        <p:nvSpPr>
          <p:cNvPr id="10" name="TextBox 9"/>
          <p:cNvSpPr txBox="1"/>
          <p:nvPr/>
        </p:nvSpPr>
        <p:spPr>
          <a:xfrm>
            <a:off x="6675120" y="1572768"/>
            <a:ext cx="4937760" cy="274320"/>
          </a:xfrm>
          <a:prstGeom prst="rect">
            <a:avLst/>
          </a:prstGeom>
          <a:noFill/>
        </p:spPr>
        <p:txBody>
          <a:bodyPr wrap="square" lIns="0" tIns="0" rIns="0" bIns="0" anchor="t">
            <a:spAutoFit/>
          </a:bodyPr>
          <a:lstStyle/>
          <a:p>
            <a:r>
              <a:rPr sz="1200" b="1" i="0" spc="200">
                <a:solidFill>
                  <a:srgbClr val="C00000"/>
                </a:solidFill>
                <a:latin typeface="Calibri"/>
              </a:rPr>
              <a:t>VERDICT: TUNED GAUSSIAN COPULA</a:t>
            </a:r>
          </a:p>
        </p:txBody>
      </p:sp>
      <p:sp>
        <p:nvSpPr>
          <p:cNvPr id="11" name="TextBox 10"/>
          <p:cNvSpPr txBox="1"/>
          <p:nvPr/>
        </p:nvSpPr>
        <p:spPr>
          <a:xfrm>
            <a:off x="6675120" y="1920240"/>
            <a:ext cx="1691640" cy="640080"/>
          </a:xfrm>
          <a:prstGeom prst="rect">
            <a:avLst/>
          </a:prstGeom>
          <a:noFill/>
        </p:spPr>
        <p:txBody>
          <a:bodyPr wrap="square" lIns="0" tIns="0" rIns="0" bIns="0" anchor="ctr">
            <a:spAutoFit/>
          </a:bodyPr>
          <a:lstStyle/>
          <a:p>
            <a:r>
              <a:rPr sz="3200" b="1" i="0">
                <a:solidFill>
                  <a:srgbClr val="1E2761"/>
                </a:solidFill>
                <a:latin typeface="Cambria"/>
              </a:rPr>
              <a:t>0.102</a:t>
            </a:r>
          </a:p>
        </p:txBody>
      </p:sp>
      <p:sp>
        <p:nvSpPr>
          <p:cNvPr id="12" name="TextBox 11"/>
          <p:cNvSpPr txBox="1"/>
          <p:nvPr/>
        </p:nvSpPr>
        <p:spPr>
          <a:xfrm>
            <a:off x="8458200" y="1975104"/>
            <a:ext cx="3200400" cy="274320"/>
          </a:xfrm>
          <a:prstGeom prst="rect">
            <a:avLst/>
          </a:prstGeom>
          <a:noFill/>
        </p:spPr>
        <p:txBody>
          <a:bodyPr wrap="square" lIns="0" tIns="0" rIns="0" bIns="0" anchor="t">
            <a:spAutoFit/>
          </a:bodyPr>
          <a:lstStyle/>
          <a:p>
            <a:r>
              <a:rPr sz="1400" b="1" i="0">
                <a:solidFill>
                  <a:srgbClr val="1B1B1B"/>
                </a:solidFill>
                <a:latin typeface="Calibri"/>
              </a:rPr>
              <a:t>correlation error</a:t>
            </a:r>
          </a:p>
        </p:txBody>
      </p:sp>
      <p:sp>
        <p:nvSpPr>
          <p:cNvPr id="13" name="TextBox 12"/>
          <p:cNvSpPr txBox="1"/>
          <p:nvPr/>
        </p:nvSpPr>
        <p:spPr>
          <a:xfrm>
            <a:off x="8458200" y="2249424"/>
            <a:ext cx="3200400" cy="274320"/>
          </a:xfrm>
          <a:prstGeom prst="rect">
            <a:avLst/>
          </a:prstGeom>
          <a:noFill/>
        </p:spPr>
        <p:txBody>
          <a:bodyPr wrap="square" lIns="0" tIns="0" rIns="0" bIns="0" anchor="t">
            <a:spAutoFit/>
          </a:bodyPr>
          <a:lstStyle/>
          <a:p>
            <a:r>
              <a:rPr sz="1200" b="0" i="0">
                <a:solidFill>
                  <a:srgbClr val="595959"/>
                </a:solidFill>
                <a:latin typeface="Calibri"/>
              </a:rPr>
              <a:t>best of all nine settings</a:t>
            </a:r>
          </a:p>
        </p:txBody>
      </p:sp>
      <p:sp>
        <p:nvSpPr>
          <p:cNvPr id="14" name="TextBox 13"/>
          <p:cNvSpPr txBox="1"/>
          <p:nvPr/>
        </p:nvSpPr>
        <p:spPr>
          <a:xfrm>
            <a:off x="6675120" y="2706624"/>
            <a:ext cx="1691640" cy="640080"/>
          </a:xfrm>
          <a:prstGeom prst="rect">
            <a:avLst/>
          </a:prstGeom>
          <a:noFill/>
        </p:spPr>
        <p:txBody>
          <a:bodyPr wrap="square" lIns="0" tIns="0" rIns="0" bIns="0" anchor="ctr">
            <a:spAutoFit/>
          </a:bodyPr>
          <a:lstStyle/>
          <a:p>
            <a:r>
              <a:rPr sz="3200" b="1" i="0">
                <a:solidFill>
                  <a:srgbClr val="2A9D8F"/>
                </a:solidFill>
                <a:latin typeface="Cambria"/>
              </a:rPr>
              <a:t>0.686</a:t>
            </a:r>
          </a:p>
        </p:txBody>
      </p:sp>
      <p:sp>
        <p:nvSpPr>
          <p:cNvPr id="15" name="TextBox 14"/>
          <p:cNvSpPr txBox="1"/>
          <p:nvPr/>
        </p:nvSpPr>
        <p:spPr>
          <a:xfrm>
            <a:off x="8458200" y="2761488"/>
            <a:ext cx="3200400" cy="274320"/>
          </a:xfrm>
          <a:prstGeom prst="rect">
            <a:avLst/>
          </a:prstGeom>
          <a:noFill/>
        </p:spPr>
        <p:txBody>
          <a:bodyPr wrap="square" lIns="0" tIns="0" rIns="0" bIns="0" anchor="t">
            <a:spAutoFit/>
          </a:bodyPr>
          <a:lstStyle/>
          <a:p>
            <a:r>
              <a:rPr sz="1400" b="1" i="0">
                <a:solidFill>
                  <a:srgbClr val="1B1B1B"/>
                </a:solidFill>
                <a:latin typeface="Calibri"/>
              </a:rPr>
              <a:t>prediction score</a:t>
            </a:r>
          </a:p>
        </p:txBody>
      </p:sp>
      <p:sp>
        <p:nvSpPr>
          <p:cNvPr id="16" name="TextBox 15"/>
          <p:cNvSpPr txBox="1"/>
          <p:nvPr/>
        </p:nvSpPr>
        <p:spPr>
          <a:xfrm>
            <a:off x="8458200" y="3035808"/>
            <a:ext cx="3200400" cy="274320"/>
          </a:xfrm>
          <a:prstGeom prst="rect">
            <a:avLst/>
          </a:prstGeom>
          <a:noFill/>
        </p:spPr>
        <p:txBody>
          <a:bodyPr wrap="square" lIns="0" tIns="0" rIns="0" bIns="0" anchor="t">
            <a:spAutoFit/>
          </a:bodyPr>
          <a:lstStyle/>
          <a:p>
            <a:r>
              <a:rPr sz="1200" b="0" i="0">
                <a:solidFill>
                  <a:srgbClr val="595959"/>
                </a:solidFill>
                <a:latin typeface="Calibri"/>
              </a:rPr>
              <a:t>level with TVAE’s 0.704 (p = 0.68)</a:t>
            </a:r>
          </a:p>
        </p:txBody>
      </p:sp>
      <p:sp>
        <p:nvSpPr>
          <p:cNvPr id="17" name="TextBox 16"/>
          <p:cNvSpPr txBox="1"/>
          <p:nvPr/>
        </p:nvSpPr>
        <p:spPr>
          <a:xfrm>
            <a:off x="6675120" y="3493008"/>
            <a:ext cx="1691640" cy="640080"/>
          </a:xfrm>
          <a:prstGeom prst="rect">
            <a:avLst/>
          </a:prstGeom>
          <a:noFill/>
        </p:spPr>
        <p:txBody>
          <a:bodyPr wrap="square" lIns="0" tIns="0" rIns="0" bIns="0" anchor="ctr">
            <a:spAutoFit/>
          </a:bodyPr>
          <a:lstStyle/>
          <a:p>
            <a:r>
              <a:rPr sz="3200" b="1" i="0">
                <a:solidFill>
                  <a:srgbClr val="C00000"/>
                </a:solidFill>
                <a:latin typeface="Cambria"/>
              </a:rPr>
              <a:t>0.656</a:t>
            </a:r>
          </a:p>
        </p:txBody>
      </p:sp>
      <p:sp>
        <p:nvSpPr>
          <p:cNvPr id="18" name="TextBox 17"/>
          <p:cNvSpPr txBox="1"/>
          <p:nvPr/>
        </p:nvSpPr>
        <p:spPr>
          <a:xfrm>
            <a:off x="8458200" y="3547872"/>
            <a:ext cx="3200400" cy="274320"/>
          </a:xfrm>
          <a:prstGeom prst="rect">
            <a:avLst/>
          </a:prstGeom>
          <a:noFill/>
        </p:spPr>
        <p:txBody>
          <a:bodyPr wrap="square" lIns="0" tIns="0" rIns="0" bIns="0" anchor="t">
            <a:spAutoFit/>
          </a:bodyPr>
          <a:lstStyle/>
          <a:p>
            <a:r>
              <a:rPr sz="1400" b="1" i="0">
                <a:solidFill>
                  <a:srgbClr val="1B1B1B"/>
                </a:solidFill>
                <a:latin typeface="Calibri"/>
              </a:rPr>
              <a:t>attack AUROC</a:t>
            </a:r>
          </a:p>
        </p:txBody>
      </p:sp>
      <p:sp>
        <p:nvSpPr>
          <p:cNvPr id="19" name="TextBox 18"/>
          <p:cNvSpPr txBox="1"/>
          <p:nvPr/>
        </p:nvSpPr>
        <p:spPr>
          <a:xfrm>
            <a:off x="8458200" y="3822192"/>
            <a:ext cx="3200400" cy="274320"/>
          </a:xfrm>
          <a:prstGeom prst="rect">
            <a:avLst/>
          </a:prstGeom>
          <a:noFill/>
        </p:spPr>
        <p:txBody>
          <a:bodyPr wrap="square" lIns="0" tIns="0" rIns="0" bIns="0" anchor="t">
            <a:spAutoFit/>
          </a:bodyPr>
          <a:lstStyle/>
          <a:p>
            <a:r>
              <a:rPr sz="1200" b="0" i="0">
                <a:solidFill>
                  <a:srgbClr val="595959"/>
                </a:solidFill>
                <a:latin typeface="Calibri"/>
              </a:rPr>
              <a:t>below TVAE 0.680 and diffusion 0.787</a:t>
            </a:r>
          </a:p>
        </p:txBody>
      </p:sp>
      <p:sp>
        <p:nvSpPr>
          <p:cNvPr id="20" name="Rectangle 19"/>
          <p:cNvSpPr/>
          <p:nvPr/>
        </p:nvSpPr>
        <p:spPr>
          <a:xfrm>
            <a:off x="6675120" y="4389120"/>
            <a:ext cx="4965192" cy="1901952"/>
          </a:xfrm>
          <a:prstGeom prst="rect">
            <a:avLst/>
          </a:prstGeom>
          <a:solidFill>
            <a:srgbClr val="F6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903720" y="4526280"/>
            <a:ext cx="4572000" cy="274320"/>
          </a:xfrm>
          <a:prstGeom prst="rect">
            <a:avLst/>
          </a:prstGeom>
          <a:noFill/>
        </p:spPr>
        <p:txBody>
          <a:bodyPr wrap="square" lIns="0" tIns="0" rIns="0" bIns="0" anchor="t">
            <a:spAutoFit/>
          </a:bodyPr>
          <a:lstStyle/>
          <a:p>
            <a:r>
              <a:rPr sz="1200" b="1" i="0" spc="200">
                <a:solidFill>
                  <a:srgbClr val="1E2761"/>
                </a:solidFill>
                <a:latin typeface="Calibri"/>
              </a:rPr>
              <a:t>WHY THE SIMPLEST MODEL WINS</a:t>
            </a:r>
          </a:p>
        </p:txBody>
      </p:sp>
      <p:sp>
        <p:nvSpPr>
          <p:cNvPr id="22" name="TextBox 21"/>
          <p:cNvSpPr txBox="1"/>
          <p:nvPr/>
        </p:nvSpPr>
        <p:spPr>
          <a:xfrm>
            <a:off x="6903720" y="4846320"/>
            <a:ext cx="4572000" cy="1371600"/>
          </a:xfrm>
          <a:prstGeom prst="rect">
            <a:avLst/>
          </a:prstGeom>
          <a:noFill/>
        </p:spPr>
        <p:txBody>
          <a:bodyPr wrap="square" lIns="0" tIns="0" rIns="0" bIns="0" anchor="t">
            <a:spAutoFit/>
          </a:bodyPr>
          <a:lstStyle/>
          <a:p>
            <a:pPr>
              <a:lnSpc>
                <a:spcPct val="105000"/>
              </a:lnSpc>
            </a:pPr>
            <a:r>
              <a:rPr sz="1250" b="0" i="0">
                <a:solidFill>
                  <a:srgbClr val="1B1B1B"/>
                </a:solidFill>
                <a:latin typeface="Calibri"/>
              </a:rPr>
              <a:t>With 110 encoded columns and only 94 rows, a neural network can store the training set. The copula only learns column shapes and one correlation matrix, so it cannot memorise a patient. Lowering its shrinkage from 0.668 to 0.10 raised utility by 0.09 for only 0.011 more leakage.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6739128"/>
            <a:ext cx="12191695" cy="11887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logo.jpg"/>
          <p:cNvPicPr>
            <a:picLocks noChangeAspect="1"/>
          </p:cNvPicPr>
          <p:nvPr/>
        </p:nvPicPr>
        <p:blipFill>
          <a:blip r:embed="rId3"/>
          <a:stretch>
            <a:fillRect/>
          </a:stretch>
        </p:blipFill>
        <p:spPr>
          <a:xfrm>
            <a:off x="0" y="256032"/>
            <a:ext cx="2377440" cy="1143000"/>
          </a:xfrm>
          <a:prstGeom prst="rect">
            <a:avLst/>
          </a:prstGeom>
        </p:spPr>
      </p:pic>
      <p:sp>
        <p:nvSpPr>
          <p:cNvPr id="5" name="TextBox 4"/>
          <p:cNvSpPr txBox="1"/>
          <p:nvPr/>
        </p:nvSpPr>
        <p:spPr>
          <a:xfrm>
            <a:off x="2651760" y="0"/>
            <a:ext cx="9235440" cy="758952"/>
          </a:xfrm>
          <a:prstGeom prst="rect">
            <a:avLst/>
          </a:prstGeom>
          <a:noFill/>
        </p:spPr>
        <p:txBody>
          <a:bodyPr wrap="square" lIns="0" tIns="0" rIns="0" bIns="0" anchor="ctr">
            <a:spAutoFit/>
          </a:bodyPr>
          <a:lstStyle/>
          <a:p>
            <a:r>
              <a:rPr sz="2600" b="1" i="0">
                <a:solidFill>
                  <a:srgbClr val="FFFFFF"/>
                </a:solidFill>
                <a:latin typeface="Cambria"/>
              </a:rPr>
              <a:t>Conclusion, limits and next steps</a:t>
            </a:r>
          </a:p>
        </p:txBody>
      </p:sp>
      <p:sp>
        <p:nvSpPr>
          <p:cNvPr id="6" name="TextBox 5"/>
          <p:cNvSpPr txBox="1"/>
          <p:nvPr/>
        </p:nvSpPr>
        <p:spPr>
          <a:xfrm>
            <a:off x="548640" y="6419088"/>
            <a:ext cx="7315200" cy="256032"/>
          </a:xfrm>
          <a:prstGeom prst="rect">
            <a:avLst/>
          </a:prstGeom>
          <a:noFill/>
        </p:spPr>
        <p:txBody>
          <a:bodyPr wrap="square" lIns="0" tIns="0" rIns="0" bIns="0" anchor="ctr">
            <a:spAutoFit/>
          </a:bodyPr>
          <a:lstStyle/>
          <a:p>
            <a:r>
              <a:rPr sz="1100" b="0" i="0">
                <a:solidFill>
                  <a:srgbClr val="595959"/>
                </a:solidFill>
                <a:latin typeface="Calibri"/>
              </a:rPr>
              <a:t>Project Doppel</a:t>
            </a:r>
            <a:r>
              <a:rPr sz="1100" b="0" i="0">
                <a:solidFill>
                  <a:srgbClr val="1B1B1B"/>
                </a:solidFill>
                <a:latin typeface="Calibri"/>
              </a:rPr>
              <a:t>     </a:t>
            </a:r>
            <a:r>
              <a:rPr sz="1100" b="0" i="0">
                <a:solidFill>
                  <a:srgbClr val="A6A6A6"/>
                </a:solidFill>
                <a:latin typeface="Calibri"/>
              </a:rPr>
              <a:t>Problem</a:t>
            </a:r>
            <a:r>
              <a:rPr sz="1100" b="0" i="0">
                <a:solidFill>
                  <a:srgbClr val="BFBFBF"/>
                </a:solidFill>
                <a:latin typeface="Calibri"/>
              </a:rPr>
              <a:t>  ·  </a:t>
            </a:r>
            <a:r>
              <a:rPr sz="1100" b="0" i="0">
                <a:solidFill>
                  <a:srgbClr val="A6A6A6"/>
                </a:solidFill>
                <a:latin typeface="Calibri"/>
              </a:rPr>
              <a:t>Method</a:t>
            </a:r>
            <a:r>
              <a:rPr sz="1100" b="0" i="0">
                <a:solidFill>
                  <a:srgbClr val="BFBFBF"/>
                </a:solidFill>
                <a:latin typeface="Calibri"/>
              </a:rPr>
              <a:t>  ·  </a:t>
            </a:r>
            <a:r>
              <a:rPr sz="1100" b="0" i="0">
                <a:solidFill>
                  <a:srgbClr val="A6A6A6"/>
                </a:solidFill>
                <a:latin typeface="Calibri"/>
              </a:rPr>
              <a:t>Results</a:t>
            </a:r>
            <a:r>
              <a:rPr sz="1100" b="0" i="0">
                <a:solidFill>
                  <a:srgbClr val="BFBFBF"/>
                </a:solidFill>
                <a:latin typeface="Calibri"/>
              </a:rPr>
              <a:t>  ·  </a:t>
            </a:r>
            <a:r>
              <a:rPr sz="1100" b="1" i="0">
                <a:solidFill>
                  <a:srgbClr val="C00000"/>
                </a:solidFill>
                <a:latin typeface="Calibri"/>
              </a:rPr>
              <a:t>Close</a:t>
            </a:r>
          </a:p>
        </p:txBody>
      </p:sp>
      <p:sp>
        <p:nvSpPr>
          <p:cNvPr id="7" name="TextBox 6"/>
          <p:cNvSpPr txBox="1"/>
          <p:nvPr/>
        </p:nvSpPr>
        <p:spPr>
          <a:xfrm>
            <a:off x="10881360" y="6419088"/>
            <a:ext cx="758952" cy="256032"/>
          </a:xfrm>
          <a:prstGeom prst="rect">
            <a:avLst/>
          </a:prstGeom>
          <a:noFill/>
        </p:spPr>
        <p:txBody>
          <a:bodyPr wrap="square" lIns="0" tIns="0" rIns="0" bIns="0" anchor="ctr">
            <a:spAutoFit/>
          </a:bodyPr>
          <a:lstStyle/>
          <a:p>
            <a:pPr algn="r"/>
            <a:r>
              <a:rPr sz="1100" b="0" i="0">
                <a:solidFill>
                  <a:srgbClr val="595959"/>
                </a:solidFill>
                <a:latin typeface="Calibri"/>
              </a:rPr>
              <a:t>9 / 10</a:t>
            </a:r>
          </a:p>
        </p:txBody>
      </p:sp>
      <p:sp>
        <p:nvSpPr>
          <p:cNvPr id="8" name="TextBox 7"/>
          <p:cNvSpPr txBox="1"/>
          <p:nvPr/>
        </p:nvSpPr>
        <p:spPr>
          <a:xfrm>
            <a:off x="548640" y="1572768"/>
            <a:ext cx="5486400" cy="274320"/>
          </a:xfrm>
          <a:prstGeom prst="rect">
            <a:avLst/>
          </a:prstGeom>
          <a:noFill/>
        </p:spPr>
        <p:txBody>
          <a:bodyPr wrap="square" lIns="0" tIns="0" rIns="0" bIns="0" anchor="t">
            <a:spAutoFit/>
          </a:bodyPr>
          <a:lstStyle/>
          <a:p>
            <a:r>
              <a:rPr sz="1200" b="1" i="0" spc="200">
                <a:solidFill>
                  <a:srgbClr val="C00000"/>
                </a:solidFill>
                <a:latin typeface="Calibri"/>
              </a:rPr>
              <a:t>WHAT WE FOUND</a:t>
            </a:r>
          </a:p>
        </p:txBody>
      </p:sp>
      <p:sp>
        <p:nvSpPr>
          <p:cNvPr id="9" name="TextBox 8"/>
          <p:cNvSpPr txBox="1"/>
          <p:nvPr/>
        </p:nvSpPr>
        <p:spPr>
          <a:xfrm>
            <a:off x="548640" y="1865376"/>
            <a:ext cx="502920" cy="640080"/>
          </a:xfrm>
          <a:prstGeom prst="rect">
            <a:avLst/>
          </a:prstGeom>
          <a:noFill/>
        </p:spPr>
        <p:txBody>
          <a:bodyPr wrap="square" lIns="0" tIns="0" rIns="0" bIns="0" anchor="t">
            <a:spAutoFit/>
          </a:bodyPr>
          <a:lstStyle/>
          <a:p>
            <a:r>
              <a:rPr sz="3400" b="1" i="0">
                <a:solidFill>
                  <a:srgbClr val="C00000"/>
                </a:solidFill>
                <a:latin typeface="Cambria"/>
              </a:rPr>
              <a:t>1</a:t>
            </a:r>
          </a:p>
        </p:txBody>
      </p:sp>
      <p:sp>
        <p:nvSpPr>
          <p:cNvPr id="10" name="TextBox 9"/>
          <p:cNvSpPr txBox="1"/>
          <p:nvPr/>
        </p:nvSpPr>
        <p:spPr>
          <a:xfrm>
            <a:off x="1097280" y="1920240"/>
            <a:ext cx="5120640" cy="347472"/>
          </a:xfrm>
          <a:prstGeom prst="rect">
            <a:avLst/>
          </a:prstGeom>
          <a:noFill/>
        </p:spPr>
        <p:txBody>
          <a:bodyPr wrap="square" lIns="0" tIns="0" rIns="0" bIns="0" anchor="t">
            <a:spAutoFit/>
          </a:bodyPr>
          <a:lstStyle/>
          <a:p>
            <a:r>
              <a:rPr sz="1600" b="1" i="0">
                <a:solidFill>
                  <a:srgbClr val="1B1B1B"/>
                </a:solidFill>
                <a:latin typeface="Cambria"/>
              </a:rPr>
              <a:t>Capacity is a privacy risk on small data.</a:t>
            </a:r>
          </a:p>
        </p:txBody>
      </p:sp>
      <p:sp>
        <p:nvSpPr>
          <p:cNvPr id="11" name="TextBox 10"/>
          <p:cNvSpPr txBox="1"/>
          <p:nvPr/>
        </p:nvSpPr>
        <p:spPr>
          <a:xfrm>
            <a:off x="1097280" y="2286000"/>
            <a:ext cx="5120640" cy="548640"/>
          </a:xfrm>
          <a:prstGeom prst="rect">
            <a:avLst/>
          </a:prstGeom>
          <a:noFill/>
        </p:spPr>
        <p:txBody>
          <a:bodyPr wrap="square" lIns="0" tIns="0" rIns="0" bIns="0" anchor="t">
            <a:spAutoFit/>
          </a:bodyPr>
          <a:lstStyle/>
          <a:p>
            <a:pPr>
              <a:lnSpc>
                <a:spcPct val="102000"/>
              </a:lnSpc>
            </a:pPr>
            <a:r>
              <a:rPr sz="1250" b="0" i="0">
                <a:solidFill>
                  <a:srgbClr val="595959"/>
                </a:solidFill>
                <a:latin typeface="Calibri"/>
              </a:rPr>
              <a:t>The flexible models scored higher by staying close to real patients.</a:t>
            </a:r>
          </a:p>
        </p:txBody>
      </p:sp>
      <p:sp>
        <p:nvSpPr>
          <p:cNvPr id="12" name="TextBox 11"/>
          <p:cNvSpPr txBox="1"/>
          <p:nvPr/>
        </p:nvSpPr>
        <p:spPr>
          <a:xfrm>
            <a:off x="548640" y="2889504"/>
            <a:ext cx="502920" cy="640080"/>
          </a:xfrm>
          <a:prstGeom prst="rect">
            <a:avLst/>
          </a:prstGeom>
          <a:noFill/>
        </p:spPr>
        <p:txBody>
          <a:bodyPr wrap="square" lIns="0" tIns="0" rIns="0" bIns="0" anchor="t">
            <a:spAutoFit/>
          </a:bodyPr>
          <a:lstStyle/>
          <a:p>
            <a:r>
              <a:rPr sz="3400" b="1" i="0">
                <a:solidFill>
                  <a:srgbClr val="C00000"/>
                </a:solidFill>
                <a:latin typeface="Cambria"/>
              </a:rPr>
              <a:t>2</a:t>
            </a:r>
          </a:p>
        </p:txBody>
      </p:sp>
      <p:sp>
        <p:nvSpPr>
          <p:cNvPr id="13" name="TextBox 12"/>
          <p:cNvSpPr txBox="1"/>
          <p:nvPr/>
        </p:nvSpPr>
        <p:spPr>
          <a:xfrm>
            <a:off x="1097280" y="2944368"/>
            <a:ext cx="5120640" cy="347472"/>
          </a:xfrm>
          <a:prstGeom prst="rect">
            <a:avLst/>
          </a:prstGeom>
          <a:noFill/>
        </p:spPr>
        <p:txBody>
          <a:bodyPr wrap="square" lIns="0" tIns="0" rIns="0" bIns="0" anchor="t">
            <a:spAutoFit/>
          </a:bodyPr>
          <a:lstStyle/>
          <a:p>
            <a:r>
              <a:rPr sz="1600" b="1" i="0">
                <a:solidFill>
                  <a:srgbClr val="1B1B1B"/>
                </a:solidFill>
                <a:latin typeface="Cambria"/>
              </a:rPr>
              <a:t>A tuned Gaussian copula gave the best balance.</a:t>
            </a:r>
          </a:p>
        </p:txBody>
      </p:sp>
      <p:sp>
        <p:nvSpPr>
          <p:cNvPr id="14" name="TextBox 13"/>
          <p:cNvSpPr txBox="1"/>
          <p:nvPr/>
        </p:nvSpPr>
        <p:spPr>
          <a:xfrm>
            <a:off x="1097280" y="3310128"/>
            <a:ext cx="5120640" cy="548640"/>
          </a:xfrm>
          <a:prstGeom prst="rect">
            <a:avLst/>
          </a:prstGeom>
          <a:noFill/>
        </p:spPr>
        <p:txBody>
          <a:bodyPr wrap="square" lIns="0" tIns="0" rIns="0" bIns="0" anchor="t">
            <a:spAutoFit/>
          </a:bodyPr>
          <a:lstStyle/>
          <a:p>
            <a:pPr>
              <a:lnSpc>
                <a:spcPct val="102000"/>
              </a:lnSpc>
            </a:pPr>
            <a:r>
              <a:rPr sz="1250" b="0" i="0">
                <a:solidFill>
                  <a:srgbClr val="595959"/>
                </a:solidFill>
                <a:latin typeface="Calibri"/>
              </a:rPr>
              <a:t>Best relationships, utility level with TVAE, and less leakage.</a:t>
            </a:r>
          </a:p>
        </p:txBody>
      </p:sp>
      <p:sp>
        <p:nvSpPr>
          <p:cNvPr id="15" name="TextBox 14"/>
          <p:cNvSpPr txBox="1"/>
          <p:nvPr/>
        </p:nvSpPr>
        <p:spPr>
          <a:xfrm>
            <a:off x="548640" y="3913632"/>
            <a:ext cx="502920" cy="640080"/>
          </a:xfrm>
          <a:prstGeom prst="rect">
            <a:avLst/>
          </a:prstGeom>
          <a:noFill/>
        </p:spPr>
        <p:txBody>
          <a:bodyPr wrap="square" lIns="0" tIns="0" rIns="0" bIns="0" anchor="t">
            <a:spAutoFit/>
          </a:bodyPr>
          <a:lstStyle/>
          <a:p>
            <a:r>
              <a:rPr sz="3400" b="1" i="0">
                <a:solidFill>
                  <a:srgbClr val="C00000"/>
                </a:solidFill>
                <a:latin typeface="Cambria"/>
              </a:rPr>
              <a:t>3</a:t>
            </a:r>
          </a:p>
        </p:txBody>
      </p:sp>
      <p:sp>
        <p:nvSpPr>
          <p:cNvPr id="16" name="TextBox 15"/>
          <p:cNvSpPr txBox="1"/>
          <p:nvPr/>
        </p:nvSpPr>
        <p:spPr>
          <a:xfrm>
            <a:off x="1097280" y="3968496"/>
            <a:ext cx="5120640" cy="347472"/>
          </a:xfrm>
          <a:prstGeom prst="rect">
            <a:avLst/>
          </a:prstGeom>
          <a:noFill/>
        </p:spPr>
        <p:txBody>
          <a:bodyPr wrap="square" lIns="0" tIns="0" rIns="0" bIns="0" anchor="t">
            <a:spAutoFit/>
          </a:bodyPr>
          <a:lstStyle/>
          <a:p>
            <a:r>
              <a:rPr sz="1600" b="1" i="0">
                <a:solidFill>
                  <a:srgbClr val="1B1B1B"/>
                </a:solidFill>
                <a:latin typeface="Cambria"/>
              </a:rPr>
              <a:t>Privacy must be measured, not assumed.</a:t>
            </a:r>
          </a:p>
        </p:txBody>
      </p:sp>
      <p:sp>
        <p:nvSpPr>
          <p:cNvPr id="17" name="TextBox 16"/>
          <p:cNvSpPr txBox="1"/>
          <p:nvPr/>
        </p:nvSpPr>
        <p:spPr>
          <a:xfrm>
            <a:off x="1097280" y="4334256"/>
            <a:ext cx="5120640" cy="548640"/>
          </a:xfrm>
          <a:prstGeom prst="rect">
            <a:avLst/>
          </a:prstGeom>
          <a:noFill/>
        </p:spPr>
        <p:txBody>
          <a:bodyPr wrap="square" lIns="0" tIns="0" rIns="0" bIns="0" anchor="t">
            <a:spAutoFit/>
          </a:bodyPr>
          <a:lstStyle/>
          <a:p>
            <a:pPr>
              <a:lnSpc>
                <a:spcPct val="102000"/>
              </a:lnSpc>
            </a:pPr>
            <a:r>
              <a:rPr sz="1250" b="0" i="0">
                <a:solidFill>
                  <a:srgbClr val="595959"/>
                </a:solidFill>
                <a:latin typeface="Calibri"/>
              </a:rPr>
              <a:t>Test attacks against known answers; a low score means “not found”, not “safe”.</a:t>
            </a:r>
          </a:p>
        </p:txBody>
      </p:sp>
      <p:cxnSp>
        <p:nvCxnSpPr>
          <p:cNvPr id="18" name="Connector 17"/>
          <p:cNvCxnSpPr/>
          <p:nvPr/>
        </p:nvCxnSpPr>
        <p:spPr>
          <a:xfrm>
            <a:off x="6446520" y="1600200"/>
            <a:ext cx="0" cy="329184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720840" y="1572768"/>
            <a:ext cx="4937760" cy="274320"/>
          </a:xfrm>
          <a:prstGeom prst="rect">
            <a:avLst/>
          </a:prstGeom>
          <a:noFill/>
        </p:spPr>
        <p:txBody>
          <a:bodyPr wrap="square" lIns="0" tIns="0" rIns="0" bIns="0" anchor="t">
            <a:spAutoFit/>
          </a:bodyPr>
          <a:lstStyle/>
          <a:p>
            <a:r>
              <a:rPr sz="1200" b="1" i="0" spc="200">
                <a:solidFill>
                  <a:srgbClr val="1E2761"/>
                </a:solidFill>
                <a:latin typeface="Calibri"/>
              </a:rPr>
              <a:t>LIMITS  →  NEXT STEPS</a:t>
            </a:r>
          </a:p>
        </p:txBody>
      </p:sp>
      <p:sp>
        <p:nvSpPr>
          <p:cNvPr id="20" name="TextBox 19"/>
          <p:cNvSpPr txBox="1"/>
          <p:nvPr/>
        </p:nvSpPr>
        <p:spPr>
          <a:xfrm>
            <a:off x="6720840" y="1920240"/>
            <a:ext cx="4937760" cy="292608"/>
          </a:xfrm>
          <a:prstGeom prst="rect">
            <a:avLst/>
          </a:prstGeom>
          <a:noFill/>
        </p:spPr>
        <p:txBody>
          <a:bodyPr wrap="square" lIns="0" tIns="0" rIns="0" bIns="0" anchor="t">
            <a:spAutoFit/>
          </a:bodyPr>
          <a:lstStyle/>
          <a:p>
            <a:r>
              <a:rPr sz="1350" b="1" i="0">
                <a:solidFill>
                  <a:srgbClr val="1B1B1B"/>
                </a:solidFill>
                <a:latin typeface="Calibri"/>
              </a:rPr>
              <a:t>Small data: 94 admissions, 80 patients</a:t>
            </a:r>
          </a:p>
        </p:txBody>
      </p:sp>
      <p:sp>
        <p:nvSpPr>
          <p:cNvPr id="21" name="TextBox 20"/>
          <p:cNvSpPr txBox="1"/>
          <p:nvPr/>
        </p:nvSpPr>
        <p:spPr>
          <a:xfrm>
            <a:off x="6720840" y="2231136"/>
            <a:ext cx="4937760" cy="292608"/>
          </a:xfrm>
          <a:prstGeom prst="rect">
            <a:avLst/>
          </a:prstGeom>
          <a:noFill/>
        </p:spPr>
        <p:txBody>
          <a:bodyPr wrap="square" lIns="0" tIns="0" rIns="0" bIns="0" anchor="t">
            <a:spAutoFit/>
          </a:bodyPr>
          <a:lstStyle/>
          <a:p>
            <a:r>
              <a:rPr sz="1250" b="1" i="0">
                <a:solidFill>
                  <a:srgbClr val="1E2761"/>
                </a:solidFill>
                <a:latin typeface="Calibri"/>
              </a:rPr>
              <a:t>→  </a:t>
            </a:r>
            <a:r>
              <a:rPr sz="1250" b="0" i="0">
                <a:solidFill>
                  <a:srgbClr val="595959"/>
                </a:solidFill>
                <a:latin typeface="Calibri"/>
              </a:rPr>
              <a:t>rerun on full MIMIC-III or MIMIC-IV</a:t>
            </a:r>
          </a:p>
        </p:txBody>
      </p:sp>
      <p:sp>
        <p:nvSpPr>
          <p:cNvPr id="22" name="TextBox 21"/>
          <p:cNvSpPr txBox="1"/>
          <p:nvPr/>
        </p:nvSpPr>
        <p:spPr>
          <a:xfrm>
            <a:off x="6720840" y="2670048"/>
            <a:ext cx="4937760" cy="292608"/>
          </a:xfrm>
          <a:prstGeom prst="rect">
            <a:avLst/>
          </a:prstGeom>
          <a:noFill/>
        </p:spPr>
        <p:txBody>
          <a:bodyPr wrap="square" lIns="0" tIns="0" rIns="0" bIns="0" anchor="t">
            <a:spAutoFit/>
          </a:bodyPr>
          <a:lstStyle/>
          <a:p>
            <a:r>
              <a:rPr sz="1350" b="1" i="0">
                <a:solidFill>
                  <a:srgbClr val="1B1B1B"/>
                </a:solidFill>
                <a:latin typeface="Calibri"/>
              </a:rPr>
              <a:t>Noisy utility: only 6 held-out deaths</a:t>
            </a:r>
          </a:p>
        </p:txBody>
      </p:sp>
      <p:sp>
        <p:nvSpPr>
          <p:cNvPr id="23" name="TextBox 22"/>
          <p:cNvSpPr txBox="1"/>
          <p:nvPr/>
        </p:nvSpPr>
        <p:spPr>
          <a:xfrm>
            <a:off x="6720840" y="2980944"/>
            <a:ext cx="4937760" cy="292608"/>
          </a:xfrm>
          <a:prstGeom prst="rect">
            <a:avLst/>
          </a:prstGeom>
          <a:noFill/>
        </p:spPr>
        <p:txBody>
          <a:bodyPr wrap="square" lIns="0" tIns="0" rIns="0" bIns="0" anchor="t">
            <a:spAutoFit/>
          </a:bodyPr>
          <a:lstStyle/>
          <a:p>
            <a:r>
              <a:rPr sz="1250" b="1" i="0">
                <a:solidFill>
                  <a:srgbClr val="1E2761"/>
                </a:solidFill>
                <a:latin typeface="Calibri"/>
              </a:rPr>
              <a:t>→  </a:t>
            </a:r>
            <a:r>
              <a:rPr sz="1250" b="0" i="0">
                <a:solidFill>
                  <a:srgbClr val="595959"/>
                </a:solidFill>
                <a:latin typeface="Calibri"/>
              </a:rPr>
              <a:t>a larger held-out set, repeated splits</a:t>
            </a:r>
          </a:p>
        </p:txBody>
      </p:sp>
      <p:sp>
        <p:nvSpPr>
          <p:cNvPr id="24" name="TextBox 23"/>
          <p:cNvSpPr txBox="1"/>
          <p:nvPr/>
        </p:nvSpPr>
        <p:spPr>
          <a:xfrm>
            <a:off x="6720840" y="3419856"/>
            <a:ext cx="4937760" cy="292608"/>
          </a:xfrm>
          <a:prstGeom prst="rect">
            <a:avLst/>
          </a:prstGeom>
          <a:noFill/>
        </p:spPr>
        <p:txBody>
          <a:bodyPr wrap="square" lIns="0" tIns="0" rIns="0" bIns="0" anchor="t">
            <a:spAutoFit/>
          </a:bodyPr>
          <a:lstStyle/>
          <a:p>
            <a:r>
              <a:rPr sz="1350" b="1" i="0">
                <a:solidFill>
                  <a:srgbClr val="1B1B1B"/>
                </a:solidFill>
                <a:latin typeface="Calibri"/>
              </a:rPr>
              <a:t>One patient is 15 of 35 held-out stays</a:t>
            </a:r>
          </a:p>
        </p:txBody>
      </p:sp>
      <p:sp>
        <p:nvSpPr>
          <p:cNvPr id="25" name="TextBox 24"/>
          <p:cNvSpPr txBox="1"/>
          <p:nvPr/>
        </p:nvSpPr>
        <p:spPr>
          <a:xfrm>
            <a:off x="6720840" y="3730752"/>
            <a:ext cx="4937760" cy="292608"/>
          </a:xfrm>
          <a:prstGeom prst="rect">
            <a:avLst/>
          </a:prstGeom>
          <a:noFill/>
        </p:spPr>
        <p:txBody>
          <a:bodyPr wrap="square" lIns="0" tIns="0" rIns="0" bIns="0" anchor="t">
            <a:spAutoFit/>
          </a:bodyPr>
          <a:lstStyle/>
          <a:p>
            <a:r>
              <a:rPr sz="1250" b="1" i="0">
                <a:solidFill>
                  <a:srgbClr val="1E2761"/>
                </a:solidFill>
                <a:latin typeface="Calibri"/>
              </a:rPr>
              <a:t>→  </a:t>
            </a:r>
            <a:r>
              <a:rPr sz="1250" b="0" i="0">
                <a:solidFill>
                  <a:srgbClr val="595959"/>
                </a:solidFill>
                <a:latin typeface="Calibri"/>
              </a:rPr>
              <a:t>repeat the test without that patient</a:t>
            </a:r>
          </a:p>
        </p:txBody>
      </p:sp>
      <p:sp>
        <p:nvSpPr>
          <p:cNvPr id="26" name="TextBox 25"/>
          <p:cNvSpPr txBox="1"/>
          <p:nvPr/>
        </p:nvSpPr>
        <p:spPr>
          <a:xfrm>
            <a:off x="6720840" y="4169664"/>
            <a:ext cx="4937760" cy="292608"/>
          </a:xfrm>
          <a:prstGeom prst="rect">
            <a:avLst/>
          </a:prstGeom>
          <a:noFill/>
        </p:spPr>
        <p:txBody>
          <a:bodyPr wrap="square" lIns="0" tIns="0" rIns="0" bIns="0" anchor="t">
            <a:spAutoFit/>
          </a:bodyPr>
          <a:lstStyle/>
          <a:p>
            <a:r>
              <a:rPr sz="1350" b="1" i="0">
                <a:solidFill>
                  <a:srgbClr val="1B1B1B"/>
                </a:solidFill>
                <a:latin typeface="Calibri"/>
              </a:rPr>
              <a:t>A low attack score is not proof of safety [9]</a:t>
            </a:r>
          </a:p>
        </p:txBody>
      </p:sp>
      <p:sp>
        <p:nvSpPr>
          <p:cNvPr id="27" name="TextBox 26"/>
          <p:cNvSpPr txBox="1"/>
          <p:nvPr/>
        </p:nvSpPr>
        <p:spPr>
          <a:xfrm>
            <a:off x="6720840" y="4480560"/>
            <a:ext cx="4937760" cy="292608"/>
          </a:xfrm>
          <a:prstGeom prst="rect">
            <a:avLst/>
          </a:prstGeom>
          <a:noFill/>
        </p:spPr>
        <p:txBody>
          <a:bodyPr wrap="square" lIns="0" tIns="0" rIns="0" bIns="0" anchor="t">
            <a:spAutoFit/>
          </a:bodyPr>
          <a:lstStyle/>
          <a:p>
            <a:r>
              <a:rPr sz="1250" b="1" i="0">
                <a:solidFill>
                  <a:srgbClr val="1E2761"/>
                </a:solidFill>
                <a:latin typeface="Calibri"/>
              </a:rPr>
              <a:t>→  </a:t>
            </a:r>
            <a:r>
              <a:rPr sz="1250" b="0" i="0">
                <a:solidFill>
                  <a:srgbClr val="595959"/>
                </a:solidFill>
                <a:latin typeface="Calibri"/>
              </a:rPr>
              <a:t>add density-based and release-only attacks</a:t>
            </a:r>
          </a:p>
        </p:txBody>
      </p:sp>
      <p:sp>
        <p:nvSpPr>
          <p:cNvPr id="28" name="Rectangle 27"/>
          <p:cNvSpPr/>
          <p:nvPr/>
        </p:nvSpPr>
        <p:spPr>
          <a:xfrm>
            <a:off x="548640" y="5166360"/>
            <a:ext cx="11091672" cy="10972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68680" y="5166360"/>
            <a:ext cx="4114800" cy="1097280"/>
          </a:xfrm>
          <a:prstGeom prst="rect">
            <a:avLst/>
          </a:prstGeom>
          <a:noFill/>
        </p:spPr>
        <p:txBody>
          <a:bodyPr wrap="square" lIns="0" tIns="0" rIns="0" bIns="0" anchor="ctr">
            <a:spAutoFit/>
          </a:bodyPr>
          <a:lstStyle/>
          <a:p>
            <a:r>
              <a:rPr sz="2600" b="1" i="0">
                <a:solidFill>
                  <a:srgbClr val="FFFFFF"/>
                </a:solidFill>
                <a:latin typeface="Cambria"/>
              </a:rPr>
              <a:t>Thank you. Questions?</a:t>
            </a:r>
          </a:p>
        </p:txBody>
      </p:sp>
      <p:sp>
        <p:nvSpPr>
          <p:cNvPr id="30" name="TextBox 29"/>
          <p:cNvSpPr txBox="1"/>
          <p:nvPr/>
        </p:nvSpPr>
        <p:spPr>
          <a:xfrm>
            <a:off x="5760720" y="5257800"/>
            <a:ext cx="2743200" cy="914400"/>
          </a:xfrm>
          <a:prstGeom prst="rect">
            <a:avLst/>
          </a:prstGeom>
          <a:noFill/>
        </p:spPr>
        <p:txBody>
          <a:bodyPr wrap="square" lIns="0" tIns="0" rIns="0" bIns="0" anchor="ctr">
            <a:spAutoFit/>
          </a:bodyPr>
          <a:lstStyle/>
          <a:p>
            <a:r>
              <a:rPr sz="1100" b="0" i="0" dirty="0">
                <a:solidFill>
                  <a:srgbClr val="C9D2F0"/>
                </a:solidFill>
                <a:latin typeface="Calibri"/>
              </a:rPr>
              <a:t>Live dashboard</a:t>
            </a:r>
          </a:p>
          <a:p>
            <a:r>
              <a:rPr sz="1500" b="1" i="0" dirty="0" err="1">
                <a:solidFill>
                  <a:srgbClr val="FFFFFF"/>
                </a:solidFill>
                <a:latin typeface="Calibri"/>
              </a:rPr>
              <a:t>doppel-six.vercel.app</a:t>
            </a:r>
            <a:endParaRPr sz="1500" b="1" i="0" dirty="0">
              <a:solidFill>
                <a:srgbClr val="FFFFFF"/>
              </a:solidFill>
              <a:latin typeface="Calibri"/>
            </a:endParaRPr>
          </a:p>
        </p:txBody>
      </p:sp>
      <p:sp>
        <p:nvSpPr>
          <p:cNvPr id="31" name="TextBox 30"/>
          <p:cNvSpPr txBox="1"/>
          <p:nvPr/>
        </p:nvSpPr>
        <p:spPr>
          <a:xfrm>
            <a:off x="8595360" y="5257800"/>
            <a:ext cx="2926080" cy="914400"/>
          </a:xfrm>
          <a:prstGeom prst="rect">
            <a:avLst/>
          </a:prstGeom>
          <a:noFill/>
        </p:spPr>
        <p:txBody>
          <a:bodyPr wrap="square" lIns="0" tIns="0" rIns="0" bIns="0" anchor="ctr">
            <a:spAutoFit/>
          </a:bodyPr>
          <a:lstStyle/>
          <a:p>
            <a:r>
              <a:rPr sz="1100" b="0" i="0">
                <a:solidFill>
                  <a:srgbClr val="C9D2F0"/>
                </a:solidFill>
                <a:latin typeface="Calibri"/>
              </a:rPr>
              <a:t>Code and documents</a:t>
            </a:r>
          </a:p>
          <a:p>
            <a:r>
              <a:rPr sz="1500" b="1" i="0">
                <a:solidFill>
                  <a:srgbClr val="FFFFFF"/>
                </a:solidFill>
                <a:latin typeface="Calibri"/>
              </a:rPr>
              <a:t>github.com/Ganglet/Doppel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6739128"/>
            <a:ext cx="12191695" cy="11887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logo.jpg"/>
          <p:cNvPicPr>
            <a:picLocks noChangeAspect="1"/>
          </p:cNvPicPr>
          <p:nvPr/>
        </p:nvPicPr>
        <p:blipFill>
          <a:blip r:embed="rId3"/>
          <a:stretch>
            <a:fillRect/>
          </a:stretch>
        </p:blipFill>
        <p:spPr>
          <a:xfrm>
            <a:off x="0" y="256032"/>
            <a:ext cx="2377440" cy="1143000"/>
          </a:xfrm>
          <a:prstGeom prst="rect">
            <a:avLst/>
          </a:prstGeom>
        </p:spPr>
      </p:pic>
      <p:sp>
        <p:nvSpPr>
          <p:cNvPr id="5" name="TextBox 4"/>
          <p:cNvSpPr txBox="1"/>
          <p:nvPr/>
        </p:nvSpPr>
        <p:spPr>
          <a:xfrm>
            <a:off x="2651760" y="0"/>
            <a:ext cx="9235440" cy="758952"/>
          </a:xfrm>
          <a:prstGeom prst="rect">
            <a:avLst/>
          </a:prstGeom>
          <a:noFill/>
        </p:spPr>
        <p:txBody>
          <a:bodyPr wrap="square" lIns="0" tIns="0" rIns="0" bIns="0" anchor="ctr">
            <a:spAutoFit/>
          </a:bodyPr>
          <a:lstStyle/>
          <a:p>
            <a:r>
              <a:rPr sz="2600" b="1" i="0">
                <a:solidFill>
                  <a:srgbClr val="FFFFFF"/>
                </a:solidFill>
                <a:latin typeface="Cambria"/>
              </a:rPr>
              <a:t>References</a:t>
            </a:r>
          </a:p>
        </p:txBody>
      </p:sp>
      <p:sp>
        <p:nvSpPr>
          <p:cNvPr id="6" name="TextBox 5"/>
          <p:cNvSpPr txBox="1"/>
          <p:nvPr/>
        </p:nvSpPr>
        <p:spPr>
          <a:xfrm>
            <a:off x="548640" y="6419088"/>
            <a:ext cx="7315200" cy="256032"/>
          </a:xfrm>
          <a:prstGeom prst="rect">
            <a:avLst/>
          </a:prstGeom>
          <a:noFill/>
        </p:spPr>
        <p:txBody>
          <a:bodyPr wrap="square" lIns="0" tIns="0" rIns="0" bIns="0" anchor="ctr">
            <a:spAutoFit/>
          </a:bodyPr>
          <a:lstStyle/>
          <a:p>
            <a:r>
              <a:rPr sz="1100" b="0" i="0">
                <a:solidFill>
                  <a:srgbClr val="595959"/>
                </a:solidFill>
                <a:latin typeface="Calibri"/>
              </a:rPr>
              <a:t>Project Doppel</a:t>
            </a:r>
            <a:r>
              <a:rPr sz="1100" b="0" i="0">
                <a:solidFill>
                  <a:srgbClr val="1B1B1B"/>
                </a:solidFill>
                <a:latin typeface="Calibri"/>
              </a:rPr>
              <a:t>     </a:t>
            </a:r>
            <a:r>
              <a:rPr sz="1100" b="0" i="0">
                <a:solidFill>
                  <a:srgbClr val="A6A6A6"/>
                </a:solidFill>
                <a:latin typeface="Calibri"/>
              </a:rPr>
              <a:t>Problem</a:t>
            </a:r>
            <a:r>
              <a:rPr sz="1100" b="0" i="0">
                <a:solidFill>
                  <a:srgbClr val="BFBFBF"/>
                </a:solidFill>
                <a:latin typeface="Calibri"/>
              </a:rPr>
              <a:t>  ·  </a:t>
            </a:r>
            <a:r>
              <a:rPr sz="1100" b="0" i="0">
                <a:solidFill>
                  <a:srgbClr val="A6A6A6"/>
                </a:solidFill>
                <a:latin typeface="Calibri"/>
              </a:rPr>
              <a:t>Method</a:t>
            </a:r>
            <a:r>
              <a:rPr sz="1100" b="0" i="0">
                <a:solidFill>
                  <a:srgbClr val="BFBFBF"/>
                </a:solidFill>
                <a:latin typeface="Calibri"/>
              </a:rPr>
              <a:t>  ·  </a:t>
            </a:r>
            <a:r>
              <a:rPr sz="1100" b="0" i="0">
                <a:solidFill>
                  <a:srgbClr val="A6A6A6"/>
                </a:solidFill>
                <a:latin typeface="Calibri"/>
              </a:rPr>
              <a:t>Results</a:t>
            </a:r>
            <a:r>
              <a:rPr sz="1100" b="0" i="0">
                <a:solidFill>
                  <a:srgbClr val="BFBFBF"/>
                </a:solidFill>
                <a:latin typeface="Calibri"/>
              </a:rPr>
              <a:t>  ·  </a:t>
            </a:r>
            <a:r>
              <a:rPr sz="1100" b="1" i="0">
                <a:solidFill>
                  <a:srgbClr val="C00000"/>
                </a:solidFill>
                <a:latin typeface="Calibri"/>
              </a:rPr>
              <a:t>Close</a:t>
            </a:r>
          </a:p>
        </p:txBody>
      </p:sp>
      <p:sp>
        <p:nvSpPr>
          <p:cNvPr id="7" name="TextBox 6"/>
          <p:cNvSpPr txBox="1"/>
          <p:nvPr/>
        </p:nvSpPr>
        <p:spPr>
          <a:xfrm>
            <a:off x="10881360" y="6419088"/>
            <a:ext cx="758952" cy="256032"/>
          </a:xfrm>
          <a:prstGeom prst="rect">
            <a:avLst/>
          </a:prstGeom>
          <a:noFill/>
        </p:spPr>
        <p:txBody>
          <a:bodyPr wrap="square" lIns="0" tIns="0" rIns="0" bIns="0" anchor="ctr">
            <a:spAutoFit/>
          </a:bodyPr>
          <a:lstStyle/>
          <a:p>
            <a:pPr algn="r"/>
            <a:r>
              <a:rPr sz="1100" b="0" i="0">
                <a:solidFill>
                  <a:srgbClr val="595959"/>
                </a:solidFill>
                <a:latin typeface="Calibri"/>
              </a:rPr>
              <a:t>10 / 10</a:t>
            </a:r>
          </a:p>
        </p:txBody>
      </p:sp>
      <p:sp>
        <p:nvSpPr>
          <p:cNvPr id="8" name="TextBox 7"/>
          <p:cNvSpPr txBox="1"/>
          <p:nvPr/>
        </p:nvSpPr>
        <p:spPr>
          <a:xfrm>
            <a:off x="548640" y="1645920"/>
            <a:ext cx="5394960" cy="4297680"/>
          </a:xfrm>
          <a:prstGeom prst="rect">
            <a:avLst/>
          </a:prstGeom>
          <a:noFill/>
        </p:spPr>
        <p:txBody>
          <a:bodyPr wrap="square" lIns="0" tIns="0" rIns="0" bIns="0" anchor="t">
            <a:spAutoFit/>
          </a:bodyPr>
          <a:lstStyle/>
          <a:p>
            <a:pPr>
              <a:lnSpc>
                <a:spcPct val="104000"/>
              </a:lnSpc>
              <a:spcAft>
                <a:spcPts val="1000"/>
              </a:spcAft>
            </a:pPr>
            <a:r>
              <a:rPr sz="1250" b="1" i="0">
                <a:solidFill>
                  <a:srgbClr val="C00000"/>
                </a:solidFill>
                <a:latin typeface="Calibri"/>
              </a:rPr>
              <a:t>[1]  </a:t>
            </a:r>
            <a:r>
              <a:rPr sz="1250" b="0" i="0">
                <a:solidFill>
                  <a:srgbClr val="1B1B1B"/>
                </a:solidFill>
                <a:latin typeface="Calibri"/>
              </a:rPr>
              <a:t>A. E. W. Johnson et al., “MIMIC-III, a freely accessible critical care database,” Scientific Data, vol. 3, 160035, 2016.</a:t>
            </a:r>
          </a:p>
          <a:p>
            <a:pPr>
              <a:lnSpc>
                <a:spcPct val="104000"/>
              </a:lnSpc>
              <a:spcAft>
                <a:spcPts val="1000"/>
              </a:spcAft>
            </a:pPr>
            <a:r>
              <a:rPr sz="1250" b="1" i="0">
                <a:solidFill>
                  <a:srgbClr val="C00000"/>
                </a:solidFill>
                <a:latin typeface="Calibri"/>
              </a:rPr>
              <a:t>[2]  </a:t>
            </a:r>
            <a:r>
              <a:rPr sz="1250" b="0" i="0">
                <a:solidFill>
                  <a:srgbClr val="1B1B1B"/>
                </a:solidFill>
                <a:latin typeface="Calibri"/>
              </a:rPr>
              <a:t>A. Johnson, T. Pollard, R. Mark, “MIMIC-III Clinical Database Demo (v1.4),” PhysioNet, 2019. doi:10.13026/C2HM2Q</a:t>
            </a:r>
          </a:p>
          <a:p>
            <a:pPr>
              <a:lnSpc>
                <a:spcPct val="104000"/>
              </a:lnSpc>
              <a:spcAft>
                <a:spcPts val="1000"/>
              </a:spcAft>
            </a:pPr>
            <a:r>
              <a:rPr sz="1250" b="1" i="0">
                <a:solidFill>
                  <a:srgbClr val="C00000"/>
                </a:solidFill>
                <a:latin typeface="Calibri"/>
              </a:rPr>
              <a:t>[3]  </a:t>
            </a:r>
            <a:r>
              <a:rPr sz="1250" b="0" i="0">
                <a:solidFill>
                  <a:srgbClr val="1B1B1B"/>
                </a:solidFill>
                <a:latin typeface="Calibri"/>
              </a:rPr>
              <a:t>N. Patki, R. Wedge, K. Veeramachaneni, “The Synthetic Data Vault,” IEEE DSAA, 2016.</a:t>
            </a:r>
          </a:p>
          <a:p>
            <a:pPr>
              <a:lnSpc>
                <a:spcPct val="104000"/>
              </a:lnSpc>
              <a:spcAft>
                <a:spcPts val="1000"/>
              </a:spcAft>
            </a:pPr>
            <a:r>
              <a:rPr sz="1250" b="1" i="0">
                <a:solidFill>
                  <a:srgbClr val="C00000"/>
                </a:solidFill>
                <a:latin typeface="Calibri"/>
              </a:rPr>
              <a:t>[4]  </a:t>
            </a:r>
            <a:r>
              <a:rPr sz="1250" b="0" i="0">
                <a:solidFill>
                  <a:srgbClr val="1B1B1B"/>
                </a:solidFill>
                <a:latin typeface="Calibri"/>
              </a:rPr>
              <a:t>O. Ledoit, M. Wolf, “A well-conditioned estimator for large-dimensional covariance matrices,” J. Multivariate Analysis, 88(2), 2004.</a:t>
            </a:r>
          </a:p>
          <a:p>
            <a:pPr>
              <a:lnSpc>
                <a:spcPct val="104000"/>
              </a:lnSpc>
              <a:spcAft>
                <a:spcPts val="1000"/>
              </a:spcAft>
            </a:pPr>
            <a:r>
              <a:rPr sz="1250" b="1" i="0">
                <a:solidFill>
                  <a:srgbClr val="C00000"/>
                </a:solidFill>
                <a:latin typeface="Calibri"/>
              </a:rPr>
              <a:t>[5]  </a:t>
            </a:r>
            <a:r>
              <a:rPr sz="1250" b="0" i="0">
                <a:solidFill>
                  <a:srgbClr val="1B1B1B"/>
                </a:solidFill>
                <a:latin typeface="Calibri"/>
              </a:rPr>
              <a:t>L. Xu, M. Skoularidou, A. Cuesta-Infante, K. Veeramachaneni, “Modeling tabular data using conditional GAN,” NeurIPS, 2019.</a:t>
            </a:r>
          </a:p>
          <a:p>
            <a:pPr>
              <a:lnSpc>
                <a:spcPct val="104000"/>
              </a:lnSpc>
              <a:spcAft>
                <a:spcPts val="1000"/>
              </a:spcAft>
            </a:pPr>
            <a:r>
              <a:rPr sz="1250" b="1" i="0">
                <a:solidFill>
                  <a:srgbClr val="C00000"/>
                </a:solidFill>
                <a:latin typeface="Calibri"/>
              </a:rPr>
              <a:t>[6]  </a:t>
            </a:r>
            <a:r>
              <a:rPr sz="1250" b="0" i="0">
                <a:solidFill>
                  <a:srgbClr val="1B1B1B"/>
                </a:solidFill>
                <a:latin typeface="Calibri"/>
              </a:rPr>
              <a:t>A. Kotelnikov, D. Baranchuk, I. Rubachev, A. Babenko, “TabDDPM: Modelling tabular data with diffusion models,” ICML, 2023.</a:t>
            </a:r>
          </a:p>
          <a:p>
            <a:pPr>
              <a:lnSpc>
                <a:spcPct val="104000"/>
              </a:lnSpc>
              <a:spcAft>
                <a:spcPts val="1000"/>
              </a:spcAft>
            </a:pPr>
            <a:r>
              <a:rPr sz="1250" b="1" i="0">
                <a:solidFill>
                  <a:srgbClr val="C00000"/>
                </a:solidFill>
                <a:latin typeface="Calibri"/>
              </a:rPr>
              <a:t>[7]  </a:t>
            </a:r>
            <a:r>
              <a:rPr sz="1250" b="0" i="0">
                <a:solidFill>
                  <a:srgbClr val="1B1B1B"/>
                </a:solidFill>
                <a:latin typeface="Calibri"/>
              </a:rPr>
              <a:t>R. Shokri, M. Stronati, C. Song, V. Shmatikov, “Membership inference attacks against machine learning models,” IEEE S&amp;P, 2017.</a:t>
            </a:r>
          </a:p>
        </p:txBody>
      </p:sp>
      <p:sp>
        <p:nvSpPr>
          <p:cNvPr id="9" name="TextBox 8"/>
          <p:cNvSpPr txBox="1"/>
          <p:nvPr/>
        </p:nvSpPr>
        <p:spPr>
          <a:xfrm>
            <a:off x="6217920" y="1645920"/>
            <a:ext cx="5394960" cy="4297680"/>
          </a:xfrm>
          <a:prstGeom prst="rect">
            <a:avLst/>
          </a:prstGeom>
          <a:noFill/>
        </p:spPr>
        <p:txBody>
          <a:bodyPr wrap="square" lIns="0" tIns="0" rIns="0" bIns="0" anchor="t">
            <a:spAutoFit/>
          </a:bodyPr>
          <a:lstStyle/>
          <a:p>
            <a:pPr>
              <a:lnSpc>
                <a:spcPct val="104000"/>
              </a:lnSpc>
              <a:spcAft>
                <a:spcPts val="1000"/>
              </a:spcAft>
            </a:pPr>
            <a:r>
              <a:rPr sz="1250" b="1" i="0">
                <a:solidFill>
                  <a:srgbClr val="C00000"/>
                </a:solidFill>
                <a:latin typeface="Calibri"/>
              </a:rPr>
              <a:t>[8]  </a:t>
            </a:r>
            <a:r>
              <a:rPr sz="1250" b="0" i="0">
                <a:solidFill>
                  <a:srgbClr val="1B1B1B"/>
                </a:solidFill>
                <a:latin typeface="Calibri"/>
              </a:rPr>
              <a:t>N. Carlini, S. Chien, M. Nasr, S. Song, A. Terzis, F. Tramèr, “Membership inference attacks from first principles,” IEEE S&amp;P, 2022.</a:t>
            </a:r>
          </a:p>
          <a:p>
            <a:pPr>
              <a:lnSpc>
                <a:spcPct val="104000"/>
              </a:lnSpc>
              <a:spcAft>
                <a:spcPts val="1000"/>
              </a:spcAft>
            </a:pPr>
            <a:r>
              <a:rPr sz="1250" b="1" i="0">
                <a:solidFill>
                  <a:srgbClr val="C00000"/>
                </a:solidFill>
                <a:latin typeface="Calibri"/>
              </a:rPr>
              <a:t>[9]  </a:t>
            </a:r>
            <a:r>
              <a:rPr sz="1250" b="0" i="0">
                <a:solidFill>
                  <a:srgbClr val="1B1B1B"/>
                </a:solidFill>
                <a:latin typeface="Calibri"/>
              </a:rPr>
              <a:t>G. Ganev, E. De Cristofaro, “The inadequacy of similarity-based privacy metrics: privacy attacks against ‘truly anonymous’ synthetic datasets,” IEEE S&amp;P, 2025.</a:t>
            </a:r>
          </a:p>
          <a:p>
            <a:pPr>
              <a:lnSpc>
                <a:spcPct val="104000"/>
              </a:lnSpc>
              <a:spcAft>
                <a:spcPts val="1000"/>
              </a:spcAft>
            </a:pPr>
            <a:r>
              <a:rPr sz="1250" b="1" i="0">
                <a:solidFill>
                  <a:srgbClr val="C00000"/>
                </a:solidFill>
                <a:latin typeface="Calibri"/>
              </a:rPr>
              <a:t>[10]  </a:t>
            </a:r>
            <a:r>
              <a:rPr sz="1250" b="0" i="0">
                <a:solidFill>
                  <a:srgbClr val="1B1B1B"/>
                </a:solidFill>
                <a:latin typeface="Calibri"/>
              </a:rPr>
              <a:t>C. Yan et al., “A multifaceted benchmarking of synthetic electronic health record generation models,” Nature Communications, 13, 2022.</a:t>
            </a:r>
          </a:p>
          <a:p>
            <a:pPr>
              <a:lnSpc>
                <a:spcPct val="104000"/>
              </a:lnSpc>
              <a:spcAft>
                <a:spcPts val="1000"/>
              </a:spcAft>
            </a:pPr>
            <a:r>
              <a:rPr sz="1250" b="1" i="0">
                <a:solidFill>
                  <a:srgbClr val="C00000"/>
                </a:solidFill>
                <a:latin typeface="Calibri"/>
              </a:rPr>
              <a:t>[11]  </a:t>
            </a:r>
            <a:r>
              <a:rPr sz="1250" b="0" i="0">
                <a:solidFill>
                  <a:srgbClr val="1B1B1B"/>
                </a:solidFill>
                <a:latin typeface="Calibri"/>
              </a:rPr>
              <a:t>X. Chen, Z. Wu, X. Shi, H. Cho, B. Mukherjee, “Generating synthetic electronic health record data: a methodological scoping review with benchmarking on phenotype data and open-source software,” JAMIA, 32(7), 2025.</a:t>
            </a:r>
          </a:p>
          <a:p>
            <a:pPr>
              <a:lnSpc>
                <a:spcPct val="104000"/>
              </a:lnSpc>
              <a:spcAft>
                <a:spcPts val="1000"/>
              </a:spcAft>
            </a:pPr>
            <a:r>
              <a:rPr sz="1250" b="1" i="0">
                <a:solidFill>
                  <a:srgbClr val="C00000"/>
                </a:solidFill>
                <a:latin typeface="Calibri"/>
              </a:rPr>
              <a:t>[12]  </a:t>
            </a:r>
            <a:r>
              <a:rPr sz="1250" b="0" i="0">
                <a:solidFill>
                  <a:srgbClr val="1B1B1B"/>
                </a:solidFill>
                <a:latin typeface="Calibri"/>
              </a:rPr>
              <a:t>J. Lin, “Divergence measures based on the Shannon entropy,” IEEE Trans. Information Theory, 37(1), 1991.</a:t>
            </a:r>
          </a:p>
          <a:p>
            <a:pPr>
              <a:lnSpc>
                <a:spcPct val="104000"/>
              </a:lnSpc>
              <a:spcAft>
                <a:spcPts val="1000"/>
              </a:spcAft>
            </a:pPr>
            <a:r>
              <a:rPr sz="1250" b="1" i="0">
                <a:solidFill>
                  <a:srgbClr val="C00000"/>
                </a:solidFill>
                <a:latin typeface="Calibri"/>
              </a:rPr>
              <a:t>[13]  </a:t>
            </a:r>
            <a:r>
              <a:rPr sz="1250" b="0" i="0">
                <a:solidFill>
                  <a:srgbClr val="1B1B1B"/>
                </a:solidFill>
                <a:latin typeface="Calibri"/>
              </a:rPr>
              <a:t>J. C. Gower, “A general coefficient of similarity and some of its properties,” Biometrics, 27(4), 1971.</a:t>
            </a:r>
          </a:p>
        </p:txBody>
      </p:sp>
      <p:sp>
        <p:nvSpPr>
          <p:cNvPr id="10" name="TextBox 9"/>
          <p:cNvSpPr txBox="1"/>
          <p:nvPr/>
        </p:nvSpPr>
        <p:spPr>
          <a:xfrm>
            <a:off x="548640" y="5989320"/>
            <a:ext cx="11064240" cy="320040"/>
          </a:xfrm>
          <a:prstGeom prst="rect">
            <a:avLst/>
          </a:prstGeom>
          <a:noFill/>
        </p:spPr>
        <p:txBody>
          <a:bodyPr wrap="square" lIns="0" tIns="0" rIns="0" bIns="0" anchor="t">
            <a:spAutoFit/>
          </a:bodyPr>
          <a:lstStyle/>
          <a:p>
            <a:r>
              <a:rPr sz="1100" b="0" i="1">
                <a:solidFill>
                  <a:srgbClr val="8C8C8C"/>
                </a:solidFill>
                <a:latin typeface="Calibri"/>
              </a:rPr>
              <a:t>All charts: own analysis of the 180 evaluation runs. Logos: SVKM’s NMIMS.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903</TotalTime>
  <Words>2841</Words>
  <Application>Microsoft Macintosh PowerPoint</Application>
  <PresentationFormat>Widescreen</PresentationFormat>
  <Paragraphs>213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Doppel</dc:title>
  <dc:subject>PptxGenJS Presentation</dc:subject>
  <dc:creator>Team Doppel</dc:creator>
  <cp:lastModifiedBy>angshuman chakravertty</cp:lastModifiedBy>
  <cp:revision>3</cp:revision>
  <dcterms:created xsi:type="dcterms:W3CDTF">2026-10-21T14:52:03Z</dcterms:created>
  <dcterms:modified xsi:type="dcterms:W3CDTF">2026-10-22T07:59:40Z</dcterms:modified>
</cp:coreProperties>
</file>